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8288000" cy="10287000"/>
  <p:notesSz cx="6858000" cy="9144000"/>
  <p:embeddedFontLs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episode focus on enterprise agent workflows. Establish presenter authority and point to the approval checkpoint as the central theme.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Restate the canonical incident. Explain how structured triage evolves into a coordinated specialist investigation and set expectations for orchestration and approval.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Outline the technical goals: pattern selection, typed state, interruption recovery, and approval enforced in application code. Frame all results as intended demonstrations.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why distinct specialist responsibilities justify multi-agent complexity and improve modularity.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Describe how sequential, concurrent, and handoff patterns change execution. Note aggregation and partial-failure handling for concurrency.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 the baseline ATLAS topology. Distinguish agent reasoning from application enforcement; handoff is an alternative route.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Contrast durable typed workflow state with transient conversational context.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Transition to the live demo. Inspect actual routing and timing on the same incident rather than relying on static diagrams.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durable checkpoints, executor identity, and schema versions. Stress that persistence does not make side effects safe to replay.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Pause at approval, stop, restart, load the checkpoint, and restore pending approval. Use the recording fallback if needed.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 code-enforced policy gates without inventing thresholds or entitlements.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that approval binds a person to a specific reviewed plan version and must be revalidated before execution.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Show authorized approval and rejected paths. Model fields and tool arguments cannot substitute for authenticated human approval.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Separate workflow resumption from business idempotency; explain reads, persisted approval, idempotency keys, and status reconciliation.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 the governed architecture and preview the enterprise integration layer added in Episode 3.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Encourage a recovery exercise and invite questions around where the process should pause.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Compare group chat and Magentic-style orchestration; discuss control, overhead, and fit for ATLAS.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Separate conversation/session state, workflow checkpoints, and ATLAS custom storage. Cosmos DB integration is not automatic for every host.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Summarize the invariants required for reliable recovery and point to the verified adapter placeholder.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Review demo fallbacks and reading links; encourage exploration after the session.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0" y="2381250"/>
            <a:ext cx="2476500" cy="952500"/>
            <a:chOff x="0" y="0"/>
            <a:chExt cx="3302000" cy="127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02000" cy="1270000"/>
            </a:xfrm>
            <a:custGeom>
              <a:avLst/>
              <a:gdLst/>
              <a:ahLst/>
              <a:cxnLst/>
              <a:rect l="l" t="t" r="r" b="b"/>
              <a:pathLst>
                <a:path w="3302000" h="1270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1221154"/>
                  </a:lnTo>
                  <a:cubicBezTo>
                    <a:pt x="3302000" y="1248131"/>
                    <a:pt x="3280131" y="1270000"/>
                    <a:pt x="3253154" y="1270000"/>
                  </a:cubicBezTo>
                  <a:lnTo>
                    <a:pt x="48846" y="1270000"/>
                  </a:lnTo>
                  <a:cubicBezTo>
                    <a:pt x="21869" y="1270000"/>
                    <a:pt x="0" y="1248131"/>
                    <a:pt x="0" y="1221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3302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Triage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382750" y="2381250"/>
            <a:ext cx="2476500" cy="952500"/>
            <a:chOff x="0" y="0"/>
            <a:chExt cx="3302000" cy="127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02000" cy="1270000"/>
            </a:xfrm>
            <a:custGeom>
              <a:avLst/>
              <a:gdLst/>
              <a:ahLst/>
              <a:cxnLst/>
              <a:rect l="l" t="t" r="r" b="b"/>
              <a:pathLst>
                <a:path w="3302000" h="1270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1221154"/>
                  </a:lnTo>
                  <a:cubicBezTo>
                    <a:pt x="3302000" y="1248131"/>
                    <a:pt x="3280131" y="1270000"/>
                    <a:pt x="3253154" y="1270000"/>
                  </a:cubicBezTo>
                  <a:lnTo>
                    <a:pt x="48846" y="1270000"/>
                  </a:lnTo>
                  <a:cubicBezTo>
                    <a:pt x="21869" y="1270000"/>
                    <a:pt x="0" y="1248131"/>
                    <a:pt x="0" y="1221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3302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Investigate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06375" y="4095750"/>
            <a:ext cx="2476500" cy="1047750"/>
            <a:chOff x="0" y="0"/>
            <a:chExt cx="3302000" cy="139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1348154"/>
                  </a:lnTo>
                  <a:cubicBezTo>
                    <a:pt x="3302000" y="1375131"/>
                    <a:pt x="3280131" y="1397000"/>
                    <a:pt x="3253154" y="1397000"/>
                  </a:cubicBezTo>
                  <a:lnTo>
                    <a:pt x="48846" y="1397000"/>
                  </a:lnTo>
                  <a:cubicBezTo>
                    <a:pt x="21869" y="1397000"/>
                    <a:pt x="0" y="1375131"/>
                    <a:pt x="0" y="1348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Plan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906375" y="5905500"/>
            <a:ext cx="2476500" cy="1143000"/>
            <a:chOff x="0" y="0"/>
            <a:chExt cx="3302000" cy="152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2000" cy="1524000"/>
            </a:xfrm>
            <a:custGeom>
              <a:avLst/>
              <a:gdLst/>
              <a:ahLst/>
              <a:cxnLst/>
              <a:rect l="l" t="t" r="r" b="b"/>
              <a:pathLst>
                <a:path w="3302000" h="1524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1475154"/>
                  </a:lnTo>
                  <a:cubicBezTo>
                    <a:pt x="3302000" y="1502131"/>
                    <a:pt x="3280131" y="1524000"/>
                    <a:pt x="3253154" y="1524000"/>
                  </a:cubicBezTo>
                  <a:lnTo>
                    <a:pt x="48846" y="1524000"/>
                  </a:lnTo>
                  <a:cubicBezTo>
                    <a:pt x="21869" y="1524000"/>
                    <a:pt x="0" y="1502131"/>
                    <a:pt x="0" y="1475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4E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302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APPROVAL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CHECKPOINT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3906500" y="2857500"/>
            <a:ext cx="476250" cy="0"/>
          </a:xfrm>
          <a:prstGeom prst="line">
            <a:avLst/>
          </a:prstGeom>
          <a:ln w="38100" cap="rnd">
            <a:solidFill>
              <a:srgbClr val="00A4E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H="1">
            <a:off x="14144625" y="3333750"/>
            <a:ext cx="1476375" cy="762000"/>
          </a:xfrm>
          <a:prstGeom prst="line">
            <a:avLst/>
          </a:prstGeom>
          <a:ln w="38100" cap="rnd">
            <a:solidFill>
              <a:srgbClr val="00A4E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4144625" y="5143500"/>
            <a:ext cx="0" cy="762000"/>
          </a:xfrm>
          <a:prstGeom prst="line">
            <a:avLst/>
          </a:prstGeom>
          <a:ln w="38100" cap="rnd">
            <a:solidFill>
              <a:srgbClr val="00A4E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18" name="AutoShape 18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2A446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01</a:t>
              </a:r>
            </a:p>
          </p:txBody>
        </p:sp>
      </p:grpSp>
      <p:sp>
        <p:nvSpPr>
          <p:cNvPr id="38" name="Freeform 38"/>
          <p:cNvSpPr/>
          <p:nvPr/>
        </p:nvSpPr>
        <p:spPr>
          <a:xfrm>
            <a:off x="876300" y="55190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3" y="0"/>
                </a:lnTo>
                <a:lnTo>
                  <a:pt x="1419373" y="1286419"/>
                </a:lnTo>
                <a:lnTo>
                  <a:pt x="0" y="1286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876300" y="2105025"/>
            <a:ext cx="7239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>
                <a:solidFill>
                  <a:srgbClr val="00A4EF"/>
                </a:solidFill>
                <a:latin typeface="Segoe UI"/>
                <a:ea typeface="Segoe UI"/>
                <a:cs typeface="Segoe UI"/>
                <a:sym typeface="Segoe UI"/>
              </a:rPr>
              <a:t>EPISODE 2 — AGENT WORKFLOWS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6300" y="2771775"/>
            <a:ext cx="10001250" cy="114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2"/>
              </a:lnSpc>
            </a:pPr>
            <a:r>
              <a:rPr lang="en-US" sz="42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Reliable Multi-Agent Systems:</a:t>
            </a:r>
          </a:p>
          <a:p>
            <a:pPr algn="l">
              <a:lnSpc>
                <a:spcPts val="4452"/>
              </a:lnSpc>
            </a:pPr>
            <a:r>
              <a:rPr lang="en-US" sz="42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Orchestration, State, and Human Approval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6300" y="5638800"/>
            <a:ext cx="7334250" cy="67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Konstantinos Passadis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Microsoft Azure MVP · Microsoft Certified Trainer (MCT)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The triage becomes a coordinated investigation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76300" y="1781175"/>
            <a:ext cx="7810500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ATLAS produces structured triage. Today it investigates evidence and impact, proposes a mitigation plan, then pauses for human approval.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29750" y="1619250"/>
            <a:ext cx="7810500" cy="1809750"/>
            <a:chOff x="0" y="0"/>
            <a:chExt cx="10414000" cy="2413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414000" cy="2413000"/>
              <a:chOff x="0" y="0"/>
              <a:chExt cx="10414000" cy="2413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414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413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0414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08000" y="234950"/>
              <a:ext cx="9652000" cy="498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18"/>
                </a:lnSpc>
              </a:pPr>
              <a:r>
                <a:rPr lang="en-US" sz="11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CANONICAL INCIDENT</a:t>
              </a:r>
            </a:p>
            <a:p>
              <a:pPr algn="l">
                <a:lnSpc>
                  <a:spcPts val="1518"/>
                </a:lnSpc>
              </a:pPr>
              <a:r>
                <a:rPr lang="en-US" sz="11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“Checkout is timing out for about 20% of EU customers since 14:05, started right after the payments deploy.”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3000" y="4953000"/>
            <a:ext cx="2857500" cy="1428750"/>
            <a:chOff x="0" y="0"/>
            <a:chExt cx="38100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862667"/>
                  </a:lnTo>
                  <a:cubicBezTo>
                    <a:pt x="3810000" y="1873894"/>
                    <a:pt x="3805540" y="1884662"/>
                    <a:pt x="3797601" y="1892601"/>
                  </a:cubicBezTo>
                  <a:cubicBezTo>
                    <a:pt x="3789662" y="1900540"/>
                    <a:pt x="3778894" y="1905000"/>
                    <a:pt x="3767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3810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Structured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triage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000500" y="5667375"/>
            <a:ext cx="952500" cy="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4953000" y="4953000"/>
            <a:ext cx="2857500" cy="1428750"/>
            <a:chOff x="0" y="0"/>
            <a:chExt cx="38100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862667"/>
                  </a:lnTo>
                  <a:cubicBezTo>
                    <a:pt x="3810000" y="1873894"/>
                    <a:pt x="3805540" y="1884662"/>
                    <a:pt x="3797601" y="1892601"/>
                  </a:cubicBezTo>
                  <a:cubicBezTo>
                    <a:pt x="3789662" y="1900540"/>
                    <a:pt x="3778894" y="1905000"/>
                    <a:pt x="3767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3810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Evidence + impact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investigation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7810500" y="5667375"/>
            <a:ext cx="952500" cy="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8763000" y="4953000"/>
            <a:ext cx="2857500" cy="1428750"/>
            <a:chOff x="0" y="0"/>
            <a:chExt cx="3810000" cy="190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862667"/>
                  </a:lnTo>
                  <a:cubicBezTo>
                    <a:pt x="3810000" y="1873894"/>
                    <a:pt x="3805540" y="1884662"/>
                    <a:pt x="3797601" y="1892601"/>
                  </a:cubicBezTo>
                  <a:cubicBezTo>
                    <a:pt x="3789662" y="1900540"/>
                    <a:pt x="3778894" y="1905000"/>
                    <a:pt x="3767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3810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Mitigation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plan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1620500" y="5667375"/>
            <a:ext cx="952500" cy="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2573000" y="4953000"/>
            <a:ext cx="2857500" cy="1428750"/>
            <a:chOff x="0" y="0"/>
            <a:chExt cx="3810000" cy="1905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862667"/>
                  </a:lnTo>
                  <a:cubicBezTo>
                    <a:pt x="3810000" y="1873894"/>
                    <a:pt x="3805540" y="1884662"/>
                    <a:pt x="3797601" y="1892601"/>
                  </a:cubicBezTo>
                  <a:cubicBezTo>
                    <a:pt x="3789662" y="1900540"/>
                    <a:pt x="3778894" y="1905000"/>
                    <a:pt x="3767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4E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3810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Human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approval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28" name="AutoShape 28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02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Today’s outcome: a recoverable approval 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1905000"/>
            <a:ext cx="8096250" cy="5429250"/>
            <a:chOff x="0" y="0"/>
            <a:chExt cx="10795000" cy="7239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95000" cy="7239000"/>
            </a:xfrm>
            <a:custGeom>
              <a:avLst/>
              <a:gdLst/>
              <a:ahLst/>
              <a:cxnLst/>
              <a:rect l="l" t="t" r="r" b="b"/>
              <a:pathLst>
                <a:path w="10795000" h="7239000">
                  <a:moveTo>
                    <a:pt x="0" y="0"/>
                  </a:moveTo>
                  <a:lnTo>
                    <a:pt x="10795000" y="0"/>
                  </a:lnTo>
                  <a:lnTo>
                    <a:pt x="10795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E7E2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795000" cy="727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09700" y="2228850"/>
            <a:ext cx="3810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INTENDED DEMONSTRATION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9700" y="2905125"/>
            <a:ext cx="7143750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6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 workflow that can stop — and safely continue.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" y="4733925"/>
            <a:ext cx="6858000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Select an orchestration pattern, preserve typed workflow state, resume after interruption, and enforce approval in application code.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01250" y="2095500"/>
            <a:ext cx="6191250" cy="952500"/>
            <a:chOff x="0" y="0"/>
            <a:chExt cx="8255000" cy="127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255000" cy="1270000"/>
            </a:xfrm>
            <a:custGeom>
              <a:avLst/>
              <a:gdLst/>
              <a:ahLst/>
              <a:cxnLst/>
              <a:rect l="l" t="t" r="r" b="b"/>
              <a:pathLst>
                <a:path w="8255000" h="1270000">
                  <a:moveTo>
                    <a:pt x="19538" y="0"/>
                  </a:moveTo>
                  <a:lnTo>
                    <a:pt x="8235462" y="0"/>
                  </a:lnTo>
                  <a:cubicBezTo>
                    <a:pt x="8246252" y="0"/>
                    <a:pt x="8255000" y="8748"/>
                    <a:pt x="8255000" y="19538"/>
                  </a:cubicBezTo>
                  <a:lnTo>
                    <a:pt x="8255000" y="1250462"/>
                  </a:lnTo>
                  <a:cubicBezTo>
                    <a:pt x="8255000" y="1261252"/>
                    <a:pt x="8246252" y="1270000"/>
                    <a:pt x="8235462" y="1270000"/>
                  </a:cubicBezTo>
                  <a:lnTo>
                    <a:pt x="19538" y="1270000"/>
                  </a:lnTo>
                  <a:cubicBezTo>
                    <a:pt x="8748" y="1270000"/>
                    <a:pt x="0" y="1261252"/>
                    <a:pt x="0" y="1250462"/>
                  </a:cubicBezTo>
                  <a:lnTo>
                    <a:pt x="0" y="19538"/>
                  </a:lnTo>
                  <a:cubicBezTo>
                    <a:pt x="0" y="8748"/>
                    <a:pt x="8748" y="0"/>
                    <a:pt x="1953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8255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8"/>
                </a:lnSpc>
              </a:pPr>
              <a:r>
                <a:rPr lang="en-US" sz="20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Pattern selected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001250" y="3476625"/>
            <a:ext cx="6191250" cy="952500"/>
            <a:chOff x="0" y="0"/>
            <a:chExt cx="8255000" cy="127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55000" cy="1270000"/>
            </a:xfrm>
            <a:custGeom>
              <a:avLst/>
              <a:gdLst/>
              <a:ahLst/>
              <a:cxnLst/>
              <a:rect l="l" t="t" r="r" b="b"/>
              <a:pathLst>
                <a:path w="8255000" h="1270000">
                  <a:moveTo>
                    <a:pt x="19538" y="0"/>
                  </a:moveTo>
                  <a:lnTo>
                    <a:pt x="8235462" y="0"/>
                  </a:lnTo>
                  <a:cubicBezTo>
                    <a:pt x="8246252" y="0"/>
                    <a:pt x="8255000" y="8748"/>
                    <a:pt x="8255000" y="19538"/>
                  </a:cubicBezTo>
                  <a:lnTo>
                    <a:pt x="8255000" y="1250462"/>
                  </a:lnTo>
                  <a:cubicBezTo>
                    <a:pt x="8255000" y="1261252"/>
                    <a:pt x="8246252" y="1270000"/>
                    <a:pt x="8235462" y="1270000"/>
                  </a:cubicBezTo>
                  <a:lnTo>
                    <a:pt x="19538" y="1270000"/>
                  </a:lnTo>
                  <a:cubicBezTo>
                    <a:pt x="8748" y="1270000"/>
                    <a:pt x="0" y="1261252"/>
                    <a:pt x="0" y="1250462"/>
                  </a:cubicBezTo>
                  <a:lnTo>
                    <a:pt x="0" y="19538"/>
                  </a:lnTo>
                  <a:cubicBezTo>
                    <a:pt x="0" y="8748"/>
                    <a:pt x="8748" y="0"/>
                    <a:pt x="1953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8255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8"/>
                </a:lnSpc>
              </a:pPr>
              <a:r>
                <a:rPr lang="en-US" sz="20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State validated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01250" y="4857750"/>
            <a:ext cx="6191250" cy="952500"/>
            <a:chOff x="0" y="0"/>
            <a:chExt cx="8255000" cy="127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55000" cy="1270000"/>
            </a:xfrm>
            <a:custGeom>
              <a:avLst/>
              <a:gdLst/>
              <a:ahLst/>
              <a:cxnLst/>
              <a:rect l="l" t="t" r="r" b="b"/>
              <a:pathLst>
                <a:path w="8255000" h="1270000">
                  <a:moveTo>
                    <a:pt x="19538" y="0"/>
                  </a:moveTo>
                  <a:lnTo>
                    <a:pt x="8235462" y="0"/>
                  </a:lnTo>
                  <a:cubicBezTo>
                    <a:pt x="8246252" y="0"/>
                    <a:pt x="8255000" y="8748"/>
                    <a:pt x="8255000" y="19538"/>
                  </a:cubicBezTo>
                  <a:lnTo>
                    <a:pt x="8255000" y="1250462"/>
                  </a:lnTo>
                  <a:cubicBezTo>
                    <a:pt x="8255000" y="1261252"/>
                    <a:pt x="8246252" y="1270000"/>
                    <a:pt x="8235462" y="1270000"/>
                  </a:cubicBezTo>
                  <a:lnTo>
                    <a:pt x="19538" y="1270000"/>
                  </a:lnTo>
                  <a:cubicBezTo>
                    <a:pt x="8748" y="1270000"/>
                    <a:pt x="0" y="1261252"/>
                    <a:pt x="0" y="1250462"/>
                  </a:cubicBezTo>
                  <a:lnTo>
                    <a:pt x="0" y="19538"/>
                  </a:lnTo>
                  <a:cubicBezTo>
                    <a:pt x="0" y="8748"/>
                    <a:pt x="8748" y="0"/>
                    <a:pt x="1953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8255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8"/>
                </a:lnSpc>
              </a:pPr>
              <a:r>
                <a:rPr lang="en-US" sz="20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Checkpoint restored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001250" y="6238875"/>
            <a:ext cx="6191250" cy="952500"/>
            <a:chOff x="0" y="0"/>
            <a:chExt cx="8255000" cy="127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255000" cy="1270000"/>
            </a:xfrm>
            <a:custGeom>
              <a:avLst/>
              <a:gdLst/>
              <a:ahLst/>
              <a:cxnLst/>
              <a:rect l="l" t="t" r="r" b="b"/>
              <a:pathLst>
                <a:path w="8255000" h="1270000">
                  <a:moveTo>
                    <a:pt x="19538" y="0"/>
                  </a:moveTo>
                  <a:lnTo>
                    <a:pt x="8235462" y="0"/>
                  </a:lnTo>
                  <a:cubicBezTo>
                    <a:pt x="8246252" y="0"/>
                    <a:pt x="8255000" y="8748"/>
                    <a:pt x="8255000" y="19538"/>
                  </a:cubicBezTo>
                  <a:lnTo>
                    <a:pt x="8255000" y="1250462"/>
                  </a:lnTo>
                  <a:cubicBezTo>
                    <a:pt x="8255000" y="1261252"/>
                    <a:pt x="8246252" y="1270000"/>
                    <a:pt x="8235462" y="1270000"/>
                  </a:cubicBezTo>
                  <a:lnTo>
                    <a:pt x="19538" y="1270000"/>
                  </a:lnTo>
                  <a:cubicBezTo>
                    <a:pt x="8748" y="1270000"/>
                    <a:pt x="0" y="1261252"/>
                    <a:pt x="0" y="1250462"/>
                  </a:cubicBezTo>
                  <a:lnTo>
                    <a:pt x="0" y="19538"/>
                  </a:lnTo>
                  <a:cubicBezTo>
                    <a:pt x="0" y="8748"/>
                    <a:pt x="8748" y="0"/>
                    <a:pt x="19538" y="0"/>
                  </a:cubicBezTo>
                  <a:close/>
                </a:path>
              </a:pathLst>
            </a:custGeom>
            <a:solidFill>
              <a:srgbClr val="0078D4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8255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8"/>
                </a:lnSpc>
              </a:pPr>
              <a:r>
                <a:rPr lang="en-US" sz="2025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Approval enforced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25" name="AutoShape 25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03</a:t>
              </a:r>
            </a:p>
          </p:txBody>
        </p:sp>
      </p:grpSp>
      <p:sp>
        <p:nvSpPr>
          <p:cNvPr id="45" name="Freeform 45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Specialists need distinct responsibilities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2381250"/>
            <a:ext cx="3810000" cy="4000500"/>
            <a:chOff x="0" y="0"/>
            <a:chExt cx="5080000" cy="5334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080000" cy="5334000"/>
              <a:chOff x="0" y="0"/>
              <a:chExt cx="5080000" cy="5334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080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5334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5080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81000" y="587375"/>
              <a:ext cx="4445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Triage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1000" y="1739900"/>
              <a:ext cx="4445000" cy="863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Classifies incident and initial symptoms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14925" y="2381250"/>
            <a:ext cx="3810000" cy="4000500"/>
            <a:chOff x="0" y="0"/>
            <a:chExt cx="5080000" cy="5334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080000" cy="5334000"/>
              <a:chOff x="0" y="0"/>
              <a:chExt cx="5080000" cy="5334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80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5334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080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81000" y="587375"/>
              <a:ext cx="4445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Knowledge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000" y="1739900"/>
              <a:ext cx="4445000" cy="863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Retrieves cited evidence and runbooks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53550" y="2381250"/>
            <a:ext cx="3810000" cy="4000500"/>
            <a:chOff x="0" y="0"/>
            <a:chExt cx="5080000" cy="5334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5080000" cy="5334000"/>
              <a:chOff x="0" y="0"/>
              <a:chExt cx="5080000" cy="5334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080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5334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A446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5080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1000" y="587375"/>
              <a:ext cx="4445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Impact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1000" y="1739900"/>
              <a:ext cx="4445000" cy="863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Assesses dependencies and SLO context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592175" y="2381250"/>
            <a:ext cx="3810000" cy="4000500"/>
            <a:chOff x="0" y="0"/>
            <a:chExt cx="5080000" cy="5334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5080000" cy="5334000"/>
              <a:chOff x="0" y="0"/>
              <a:chExt cx="5080000" cy="5334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5080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5334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5080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381000" y="587375"/>
              <a:ext cx="4445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Planner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1000" y="1739900"/>
              <a:ext cx="4445000" cy="863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Drafts mitigation and rollback plans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31" name="AutoShape 31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04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Three patterns change the execution path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2000250"/>
            <a:ext cx="5143500" cy="4762500"/>
            <a:chOff x="0" y="0"/>
            <a:chExt cx="6858000" cy="6350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858000" cy="6350000"/>
              <a:chOff x="0" y="0"/>
              <a:chExt cx="68580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858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6350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A446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858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81000" y="460375"/>
              <a:ext cx="59690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Sequential stages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1000" y="2301875"/>
              <a:ext cx="5969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A → B → 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000" y="4914900"/>
              <a:ext cx="596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Predictable · simple recovery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96050" y="2000250"/>
            <a:ext cx="5143500" cy="4762500"/>
            <a:chOff x="0" y="0"/>
            <a:chExt cx="6858000" cy="6350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6858000" cy="6350000"/>
              <a:chOff x="0" y="0"/>
              <a:chExt cx="6858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858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6350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E7E2F6"/>
              </a:solidFill>
              <a:ln w="19050" cap="sq">
                <a:solidFill>
                  <a:srgbClr val="2A446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6858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81000" y="460375"/>
              <a:ext cx="59690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Concurrent branches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1000" y="2301875"/>
              <a:ext cx="5969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A ↗ K / I ↘ 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1000" y="4914900"/>
              <a:ext cx="596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Less waiting · aggregate failures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15800" y="2000250"/>
            <a:ext cx="5143500" cy="4762500"/>
            <a:chOff x="0" y="0"/>
            <a:chExt cx="6858000" cy="6350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858000" cy="6350000"/>
              <a:chOff x="0" y="0"/>
              <a:chExt cx="6858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858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6350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A446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6858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81000" y="460375"/>
              <a:ext cx="59690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Handoff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1000" y="2301875"/>
              <a:ext cx="5969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Router → specialist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1000" y="4914900"/>
              <a:ext cx="596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Dynamic fit · routing control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76300" y="7496175"/>
            <a:ext cx="14287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Concurrency reduces waiting, but requires aggregation and partial-failure handling.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29" name="AutoShape 29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05</a:t>
              </a:r>
            </a:p>
          </p:txBody>
        </p:sp>
      </p:grpSp>
      <p:sp>
        <p:nvSpPr>
          <p:cNvPr id="49" name="Freeform 49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The ATLAS workflow controls the process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3048000"/>
            <a:ext cx="2286000" cy="1238250"/>
            <a:chOff x="0" y="0"/>
            <a:chExt cx="3048000" cy="165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48000" cy="1651000"/>
            </a:xfrm>
            <a:custGeom>
              <a:avLst/>
              <a:gdLst/>
              <a:ahLst/>
              <a:cxnLst/>
              <a:rect l="l" t="t" r="r" b="b"/>
              <a:pathLst>
                <a:path w="3048000" h="1651000">
                  <a:moveTo>
                    <a:pt x="52917" y="0"/>
                  </a:moveTo>
                  <a:lnTo>
                    <a:pt x="2995083" y="0"/>
                  </a:lnTo>
                  <a:cubicBezTo>
                    <a:pt x="3024308" y="0"/>
                    <a:pt x="3048000" y="23692"/>
                    <a:pt x="3048000" y="52917"/>
                  </a:cubicBezTo>
                  <a:lnTo>
                    <a:pt x="3048000" y="1598083"/>
                  </a:lnTo>
                  <a:cubicBezTo>
                    <a:pt x="3048000" y="1627308"/>
                    <a:pt x="3024308" y="1651000"/>
                    <a:pt x="2995083" y="1651000"/>
                  </a:cubicBezTo>
                  <a:lnTo>
                    <a:pt x="52917" y="1651000"/>
                  </a:lnTo>
                  <a:cubicBezTo>
                    <a:pt x="23692" y="1651000"/>
                    <a:pt x="0" y="1627308"/>
                    <a:pt x="0" y="1598083"/>
                  </a:cubicBezTo>
                  <a:lnTo>
                    <a:pt x="0" y="52917"/>
                  </a:lnTo>
                  <a:cubicBezTo>
                    <a:pt x="0" y="23692"/>
                    <a:pt x="23692" y="0"/>
                    <a:pt x="52917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04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Intake +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triage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3162300" y="3667125"/>
            <a:ext cx="552450" cy="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714750" y="3048000"/>
            <a:ext cx="2286000" cy="1238250"/>
            <a:chOff x="0" y="0"/>
            <a:chExt cx="3048000" cy="165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48000" cy="1651000"/>
            </a:xfrm>
            <a:custGeom>
              <a:avLst/>
              <a:gdLst/>
              <a:ahLst/>
              <a:cxnLst/>
              <a:rect l="l" t="t" r="r" b="b"/>
              <a:pathLst>
                <a:path w="3048000" h="1651000">
                  <a:moveTo>
                    <a:pt x="52917" y="0"/>
                  </a:moveTo>
                  <a:lnTo>
                    <a:pt x="2995083" y="0"/>
                  </a:lnTo>
                  <a:cubicBezTo>
                    <a:pt x="3024308" y="0"/>
                    <a:pt x="3048000" y="23692"/>
                    <a:pt x="3048000" y="52917"/>
                  </a:cubicBezTo>
                  <a:lnTo>
                    <a:pt x="3048000" y="1598083"/>
                  </a:lnTo>
                  <a:cubicBezTo>
                    <a:pt x="3048000" y="1627308"/>
                    <a:pt x="3024308" y="1651000"/>
                    <a:pt x="2995083" y="1651000"/>
                  </a:cubicBezTo>
                  <a:lnTo>
                    <a:pt x="52917" y="1651000"/>
                  </a:lnTo>
                  <a:cubicBezTo>
                    <a:pt x="23692" y="1651000"/>
                    <a:pt x="0" y="1627308"/>
                    <a:pt x="0" y="1598083"/>
                  </a:cubicBezTo>
                  <a:lnTo>
                    <a:pt x="0" y="52917"/>
                  </a:lnTo>
                  <a:cubicBezTo>
                    <a:pt x="0" y="23692"/>
                    <a:pt x="23692" y="0"/>
                    <a:pt x="52917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04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Evidence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553200" y="4572000"/>
            <a:ext cx="2286000" cy="1238250"/>
            <a:chOff x="0" y="0"/>
            <a:chExt cx="3048000" cy="165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48000" cy="1651000"/>
            </a:xfrm>
            <a:custGeom>
              <a:avLst/>
              <a:gdLst/>
              <a:ahLst/>
              <a:cxnLst/>
              <a:rect l="l" t="t" r="r" b="b"/>
              <a:pathLst>
                <a:path w="3048000" h="1651000">
                  <a:moveTo>
                    <a:pt x="52917" y="0"/>
                  </a:moveTo>
                  <a:lnTo>
                    <a:pt x="2995083" y="0"/>
                  </a:lnTo>
                  <a:cubicBezTo>
                    <a:pt x="3024308" y="0"/>
                    <a:pt x="3048000" y="23692"/>
                    <a:pt x="3048000" y="52917"/>
                  </a:cubicBezTo>
                  <a:lnTo>
                    <a:pt x="3048000" y="1598083"/>
                  </a:lnTo>
                  <a:cubicBezTo>
                    <a:pt x="3048000" y="1627308"/>
                    <a:pt x="3024308" y="1651000"/>
                    <a:pt x="2995083" y="1651000"/>
                  </a:cubicBezTo>
                  <a:lnTo>
                    <a:pt x="52917" y="1651000"/>
                  </a:lnTo>
                  <a:cubicBezTo>
                    <a:pt x="23692" y="1651000"/>
                    <a:pt x="0" y="1627308"/>
                    <a:pt x="0" y="1598083"/>
                  </a:cubicBezTo>
                  <a:lnTo>
                    <a:pt x="0" y="52917"/>
                  </a:lnTo>
                  <a:cubicBezTo>
                    <a:pt x="0" y="23692"/>
                    <a:pt x="23692" y="0"/>
                    <a:pt x="52917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304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Impact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8839200" y="3667125"/>
            <a:ext cx="552450" cy="152400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9391650" y="3048000"/>
            <a:ext cx="2286000" cy="1238250"/>
            <a:chOff x="0" y="0"/>
            <a:chExt cx="3048000" cy="1651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48000" cy="1651000"/>
            </a:xfrm>
            <a:custGeom>
              <a:avLst/>
              <a:gdLst/>
              <a:ahLst/>
              <a:cxnLst/>
              <a:rect l="l" t="t" r="r" b="b"/>
              <a:pathLst>
                <a:path w="3048000" h="1651000">
                  <a:moveTo>
                    <a:pt x="52917" y="0"/>
                  </a:moveTo>
                  <a:lnTo>
                    <a:pt x="2995083" y="0"/>
                  </a:lnTo>
                  <a:cubicBezTo>
                    <a:pt x="3024308" y="0"/>
                    <a:pt x="3048000" y="23692"/>
                    <a:pt x="3048000" y="52917"/>
                  </a:cubicBezTo>
                  <a:lnTo>
                    <a:pt x="3048000" y="1598083"/>
                  </a:lnTo>
                  <a:cubicBezTo>
                    <a:pt x="3048000" y="1627308"/>
                    <a:pt x="3024308" y="1651000"/>
                    <a:pt x="2995083" y="1651000"/>
                  </a:cubicBezTo>
                  <a:lnTo>
                    <a:pt x="52917" y="1651000"/>
                  </a:lnTo>
                  <a:cubicBezTo>
                    <a:pt x="23692" y="1651000"/>
                    <a:pt x="0" y="1627308"/>
                    <a:pt x="0" y="1598083"/>
                  </a:cubicBezTo>
                  <a:lnTo>
                    <a:pt x="0" y="52917"/>
                  </a:lnTo>
                  <a:cubicBezTo>
                    <a:pt x="0" y="23692"/>
                    <a:pt x="23692" y="0"/>
                    <a:pt x="52917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304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Aggregate +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plan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1677650" y="3667125"/>
            <a:ext cx="552450" cy="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2230100" y="3048000"/>
            <a:ext cx="2286000" cy="1238250"/>
            <a:chOff x="0" y="0"/>
            <a:chExt cx="3048000" cy="1651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48000" cy="1651000"/>
            </a:xfrm>
            <a:custGeom>
              <a:avLst/>
              <a:gdLst/>
              <a:ahLst/>
              <a:cxnLst/>
              <a:rect l="l" t="t" r="r" b="b"/>
              <a:pathLst>
                <a:path w="3048000" h="1651000">
                  <a:moveTo>
                    <a:pt x="52917" y="0"/>
                  </a:moveTo>
                  <a:lnTo>
                    <a:pt x="2995083" y="0"/>
                  </a:lnTo>
                  <a:cubicBezTo>
                    <a:pt x="3024308" y="0"/>
                    <a:pt x="3048000" y="23692"/>
                    <a:pt x="3048000" y="52917"/>
                  </a:cubicBezTo>
                  <a:lnTo>
                    <a:pt x="3048000" y="1598083"/>
                  </a:lnTo>
                  <a:cubicBezTo>
                    <a:pt x="3048000" y="1627308"/>
                    <a:pt x="3024308" y="1651000"/>
                    <a:pt x="2995083" y="1651000"/>
                  </a:cubicBezTo>
                  <a:lnTo>
                    <a:pt x="52917" y="1651000"/>
                  </a:lnTo>
                  <a:cubicBezTo>
                    <a:pt x="23692" y="1651000"/>
                    <a:pt x="0" y="1627308"/>
                    <a:pt x="0" y="1598083"/>
                  </a:cubicBezTo>
                  <a:lnTo>
                    <a:pt x="0" y="52917"/>
                  </a:lnTo>
                  <a:cubicBezTo>
                    <a:pt x="0" y="23692"/>
                    <a:pt x="23692" y="0"/>
                    <a:pt x="52917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304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Policy +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approval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4516100" y="3667125"/>
            <a:ext cx="552450" cy="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5068550" y="3048000"/>
            <a:ext cx="2286000" cy="1238250"/>
            <a:chOff x="0" y="0"/>
            <a:chExt cx="3048000" cy="1651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048000" cy="1651000"/>
            </a:xfrm>
            <a:custGeom>
              <a:avLst/>
              <a:gdLst/>
              <a:ahLst/>
              <a:cxnLst/>
              <a:rect l="l" t="t" r="r" b="b"/>
              <a:pathLst>
                <a:path w="3048000" h="1651000">
                  <a:moveTo>
                    <a:pt x="52917" y="0"/>
                  </a:moveTo>
                  <a:lnTo>
                    <a:pt x="2995083" y="0"/>
                  </a:lnTo>
                  <a:cubicBezTo>
                    <a:pt x="3024308" y="0"/>
                    <a:pt x="3048000" y="23692"/>
                    <a:pt x="3048000" y="52917"/>
                  </a:cubicBezTo>
                  <a:lnTo>
                    <a:pt x="3048000" y="1598083"/>
                  </a:lnTo>
                  <a:cubicBezTo>
                    <a:pt x="3048000" y="1627308"/>
                    <a:pt x="3024308" y="1651000"/>
                    <a:pt x="2995083" y="1651000"/>
                  </a:cubicBezTo>
                  <a:lnTo>
                    <a:pt x="52917" y="1651000"/>
                  </a:lnTo>
                  <a:cubicBezTo>
                    <a:pt x="23692" y="1651000"/>
                    <a:pt x="0" y="1627308"/>
                    <a:pt x="0" y="1598083"/>
                  </a:cubicBezTo>
                  <a:lnTo>
                    <a:pt x="0" y="52917"/>
                  </a:lnTo>
                  <a:cubicBezTo>
                    <a:pt x="0" y="23692"/>
                    <a:pt x="23692" y="0"/>
                    <a:pt x="52917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304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Dispatch +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report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3162300" y="3667125"/>
            <a:ext cx="3390900" cy="1524000"/>
          </a:xfrm>
          <a:prstGeom prst="line">
            <a:avLst/>
          </a:prstGeom>
          <a:ln w="38100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V="1">
            <a:off x="8839200" y="3667125"/>
            <a:ext cx="552450" cy="1524000"/>
          </a:xfrm>
          <a:prstGeom prst="line">
            <a:avLst/>
          </a:prstGeom>
          <a:ln w="38100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810750" y="6162675"/>
            <a:ext cx="6667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Handoff is an alternative path — not an additional required step.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76300" y="8096250"/>
            <a:ext cx="12334875" cy="276225"/>
            <a:chOff x="0" y="0"/>
            <a:chExt cx="16446500" cy="3683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63500"/>
              <a:ext cx="101600" cy="304800"/>
              <a:chOff x="0" y="0"/>
              <a:chExt cx="101600" cy="304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1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048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1016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90500" y="-9525"/>
              <a:ext cx="3429000" cy="33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Application / integration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826000" y="63500"/>
              <a:ext cx="101600" cy="304800"/>
              <a:chOff x="0" y="0"/>
              <a:chExt cx="101600" cy="304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01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048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016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5016500" y="-9525"/>
              <a:ext cx="2794000" cy="33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Agent reasoning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8890000" y="63500"/>
              <a:ext cx="101600" cy="304800"/>
              <a:chOff x="0" y="0"/>
              <a:chExt cx="101600" cy="304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01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048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00A4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016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9080500" y="-9525"/>
              <a:ext cx="3048000" cy="33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Approval / pending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3462000" y="63500"/>
              <a:ext cx="101600" cy="304800"/>
              <a:chOff x="0" y="0"/>
              <a:chExt cx="101600" cy="304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01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048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73737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1016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3652500" y="-9525"/>
              <a:ext cx="2794000" cy="33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Future / inactive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49" name="AutoShape 49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06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Typed state carries the incident case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2047875"/>
            <a:ext cx="4953000" cy="5619750"/>
            <a:chOff x="0" y="0"/>
            <a:chExt cx="6604000" cy="7493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604000" cy="7493000"/>
              <a:chOff x="0" y="0"/>
              <a:chExt cx="6604000" cy="7493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604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749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604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635000" y="533400"/>
              <a:ext cx="444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case_id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556000" y="546100"/>
              <a:ext cx="2286000" cy="355600"/>
              <a:chOff x="0" y="0"/>
              <a:chExt cx="2286000" cy="3556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2860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3556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35560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22860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35000" y="1485900"/>
              <a:ext cx="444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triage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556000" y="1498600"/>
              <a:ext cx="2286000" cy="355600"/>
              <a:chOff x="0" y="0"/>
              <a:chExt cx="2286000" cy="355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2860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3556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35560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2860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35000" y="2438400"/>
              <a:ext cx="444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knowledge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3556000" y="2451100"/>
              <a:ext cx="2286000" cy="355600"/>
              <a:chOff x="0" y="0"/>
              <a:chExt cx="2286000" cy="355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2860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3556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35560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22860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35000" y="3390900"/>
              <a:ext cx="444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impact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3556000" y="3403600"/>
              <a:ext cx="2286000" cy="355600"/>
              <a:chOff x="0" y="0"/>
              <a:chExt cx="2286000" cy="355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2860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3556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35560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2860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35000" y="4343400"/>
              <a:ext cx="444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plan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3556000" y="4356100"/>
              <a:ext cx="2286000" cy="355600"/>
              <a:chOff x="0" y="0"/>
              <a:chExt cx="2286000" cy="3556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2860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3556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35560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22860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635000" y="5295900"/>
              <a:ext cx="444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policy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556000" y="5308600"/>
              <a:ext cx="2286000" cy="355600"/>
              <a:chOff x="0" y="0"/>
              <a:chExt cx="2286000" cy="355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2860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3556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35560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22860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635000" y="6248400"/>
              <a:ext cx="4445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approval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3556000" y="6261100"/>
              <a:ext cx="2286000" cy="355600"/>
              <a:chOff x="0" y="0"/>
              <a:chExt cx="2286000" cy="355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2860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3556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35560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22860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38" name="AutoShape 38"/>
          <p:cNvSpPr/>
          <p:nvPr/>
        </p:nvSpPr>
        <p:spPr>
          <a:xfrm>
            <a:off x="6286500" y="4857750"/>
            <a:ext cx="3619500" cy="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9" name="Group 39"/>
          <p:cNvGrpSpPr/>
          <p:nvPr/>
        </p:nvGrpSpPr>
        <p:grpSpPr>
          <a:xfrm>
            <a:off x="9906000" y="3333750"/>
            <a:ext cx="6191250" cy="3048000"/>
            <a:chOff x="0" y="0"/>
            <a:chExt cx="8255000" cy="4064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255000" cy="4064000"/>
            </a:xfrm>
            <a:custGeom>
              <a:avLst/>
              <a:gdLst/>
              <a:ahLst/>
              <a:cxnLst/>
              <a:rect l="l" t="t" r="r" b="b"/>
              <a:pathLst>
                <a:path w="8255000" h="4064000">
                  <a:moveTo>
                    <a:pt x="19538" y="0"/>
                  </a:moveTo>
                  <a:lnTo>
                    <a:pt x="8235462" y="0"/>
                  </a:lnTo>
                  <a:cubicBezTo>
                    <a:pt x="8246252" y="0"/>
                    <a:pt x="8255000" y="8748"/>
                    <a:pt x="8255000" y="19538"/>
                  </a:cubicBezTo>
                  <a:lnTo>
                    <a:pt x="8255000" y="4044462"/>
                  </a:lnTo>
                  <a:cubicBezTo>
                    <a:pt x="8255000" y="4055252"/>
                    <a:pt x="8246252" y="4064000"/>
                    <a:pt x="8235462" y="4064000"/>
                  </a:cubicBezTo>
                  <a:lnTo>
                    <a:pt x="19538" y="4064000"/>
                  </a:lnTo>
                  <a:cubicBezTo>
                    <a:pt x="8748" y="4064000"/>
                    <a:pt x="0" y="4055252"/>
                    <a:pt x="0" y="4044462"/>
                  </a:cubicBezTo>
                  <a:lnTo>
                    <a:pt x="0" y="19538"/>
                  </a:lnTo>
                  <a:cubicBezTo>
                    <a:pt x="0" y="8748"/>
                    <a:pt x="8748" y="0"/>
                    <a:pt x="1953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78D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8255000" cy="405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2"/>
                </a:lnSpc>
              </a:pPr>
              <a:r>
                <a:rPr lang="en-US" sz="25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IncidentCase</a:t>
              </a:r>
            </a:p>
            <a:p>
              <a:pPr algn="ctr">
                <a:lnSpc>
                  <a:spcPts val="2932"/>
                </a:lnSpc>
              </a:pPr>
              <a:r>
                <a:rPr lang="en-US" sz="25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validated · versioned · recoverable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8286750" y="7210425"/>
            <a:ext cx="809625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Structured workflow state is not ephemeral conversational memory.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44" name="AutoShape 44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07</a:t>
              </a:r>
            </a:p>
          </p:txBody>
        </p:sp>
      </p:grpSp>
      <p:sp>
        <p:nvSpPr>
          <p:cNvPr id="64" name="Freeform 64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Live demo: sequential, concurrent, and handoff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57500" y="8150000"/>
            <a:ext cx="1257300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Every node is code or agent; knowledge and impact run in parallel. Live run, 2026-10-07, parked at the policy gate.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12" name="AutoShape 12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2A446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08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3" name="Picture 32" descr="ep2-slide08-workflow-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245" y="2150000"/>
            <a:ext cx="12141509" cy="5850000"/>
          </a:xfrm>
          <a:prstGeom prst="rect">
            <a:avLst/>
          </a:prstGeom>
          <a:ln w="12700">
            <a:solidFill>
              <a:srgbClr val="2B4C7E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Checkpoints preserve progress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2857500"/>
            <a:ext cx="2476500" cy="1047750"/>
            <a:chOff x="0" y="0"/>
            <a:chExt cx="3302000" cy="1397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1348154"/>
                  </a:lnTo>
                  <a:cubicBezTo>
                    <a:pt x="3302000" y="1375131"/>
                    <a:pt x="3280131" y="1397000"/>
                    <a:pt x="3253154" y="1397000"/>
                  </a:cubicBezTo>
                  <a:lnTo>
                    <a:pt x="48846" y="1397000"/>
                  </a:lnTo>
                  <a:cubicBezTo>
                    <a:pt x="21869" y="1397000"/>
                    <a:pt x="0" y="1375131"/>
                    <a:pt x="0" y="1348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Triage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2114550" y="3905250"/>
            <a:ext cx="0" cy="1809750"/>
          </a:xfrm>
          <a:prstGeom prst="line">
            <a:avLst/>
          </a:prstGeom>
          <a:ln w="38100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4162425" y="2857500"/>
            <a:ext cx="2476500" cy="1047750"/>
            <a:chOff x="0" y="0"/>
            <a:chExt cx="3302000" cy="139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1348154"/>
                  </a:lnTo>
                  <a:cubicBezTo>
                    <a:pt x="3302000" y="1375131"/>
                    <a:pt x="3280131" y="1397000"/>
                    <a:pt x="3253154" y="1397000"/>
                  </a:cubicBezTo>
                  <a:lnTo>
                    <a:pt x="48846" y="1397000"/>
                  </a:lnTo>
                  <a:cubicBezTo>
                    <a:pt x="21869" y="1397000"/>
                    <a:pt x="0" y="1375131"/>
                    <a:pt x="0" y="1348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Evidence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5400675" y="3905250"/>
            <a:ext cx="0" cy="1809750"/>
          </a:xfrm>
          <a:prstGeom prst="line">
            <a:avLst/>
          </a:prstGeom>
          <a:ln w="38100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448550" y="2857500"/>
            <a:ext cx="2476500" cy="1047750"/>
            <a:chOff x="0" y="0"/>
            <a:chExt cx="3302000" cy="1397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1348154"/>
                  </a:lnTo>
                  <a:cubicBezTo>
                    <a:pt x="3302000" y="1375131"/>
                    <a:pt x="3280131" y="1397000"/>
                    <a:pt x="3253154" y="1397000"/>
                  </a:cubicBezTo>
                  <a:lnTo>
                    <a:pt x="48846" y="1397000"/>
                  </a:lnTo>
                  <a:cubicBezTo>
                    <a:pt x="21869" y="1397000"/>
                    <a:pt x="0" y="1375131"/>
                    <a:pt x="0" y="1348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Impact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8686800" y="3905250"/>
            <a:ext cx="0" cy="1809750"/>
          </a:xfrm>
          <a:prstGeom prst="line">
            <a:avLst/>
          </a:prstGeom>
          <a:ln w="38100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0734675" y="2857500"/>
            <a:ext cx="2476500" cy="1047750"/>
            <a:chOff x="0" y="0"/>
            <a:chExt cx="3302000" cy="1397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1348154"/>
                  </a:lnTo>
                  <a:cubicBezTo>
                    <a:pt x="3302000" y="1375131"/>
                    <a:pt x="3280131" y="1397000"/>
                    <a:pt x="3253154" y="1397000"/>
                  </a:cubicBezTo>
                  <a:lnTo>
                    <a:pt x="48846" y="1397000"/>
                  </a:lnTo>
                  <a:cubicBezTo>
                    <a:pt x="21869" y="1397000"/>
                    <a:pt x="0" y="1375131"/>
                    <a:pt x="0" y="1348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Plan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1972925" y="3905250"/>
            <a:ext cx="0" cy="1809750"/>
          </a:xfrm>
          <a:prstGeom prst="line">
            <a:avLst/>
          </a:prstGeom>
          <a:ln w="38100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4020800" y="2857500"/>
            <a:ext cx="2476500" cy="1047750"/>
            <a:chOff x="0" y="0"/>
            <a:chExt cx="3302000" cy="1397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48846" y="0"/>
                  </a:moveTo>
                  <a:lnTo>
                    <a:pt x="3253154" y="0"/>
                  </a:lnTo>
                  <a:cubicBezTo>
                    <a:pt x="3280131" y="0"/>
                    <a:pt x="3302000" y="21869"/>
                    <a:pt x="3302000" y="48846"/>
                  </a:cubicBezTo>
                  <a:lnTo>
                    <a:pt x="3302000" y="1348154"/>
                  </a:lnTo>
                  <a:cubicBezTo>
                    <a:pt x="3302000" y="1375131"/>
                    <a:pt x="3280131" y="1397000"/>
                    <a:pt x="3253154" y="1397000"/>
                  </a:cubicBezTo>
                  <a:lnTo>
                    <a:pt x="48846" y="1397000"/>
                  </a:lnTo>
                  <a:cubicBezTo>
                    <a:pt x="21869" y="1397000"/>
                    <a:pt x="0" y="1375131"/>
                    <a:pt x="0" y="1348154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4E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Pending approval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5259050" y="3905250"/>
            <a:ext cx="0" cy="1809750"/>
          </a:xfrm>
          <a:prstGeom prst="line">
            <a:avLst/>
          </a:prstGeom>
          <a:ln w="38100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2476500" y="5715000"/>
            <a:ext cx="13335000" cy="1428750"/>
            <a:chOff x="0" y="0"/>
            <a:chExt cx="17780000" cy="1905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780000" cy="1905000"/>
            </a:xfrm>
            <a:custGeom>
              <a:avLst/>
              <a:gdLst/>
              <a:ahLst/>
              <a:cxnLst/>
              <a:rect l="l" t="t" r="r" b="b"/>
              <a:pathLst>
                <a:path w="17780000" h="1905000">
                  <a:moveTo>
                    <a:pt x="9071" y="0"/>
                  </a:moveTo>
                  <a:lnTo>
                    <a:pt x="17770929" y="0"/>
                  </a:lnTo>
                  <a:cubicBezTo>
                    <a:pt x="17773335" y="0"/>
                    <a:pt x="17775642" y="956"/>
                    <a:pt x="17777343" y="2657"/>
                  </a:cubicBezTo>
                  <a:cubicBezTo>
                    <a:pt x="17779045" y="4358"/>
                    <a:pt x="17780000" y="6666"/>
                    <a:pt x="17780000" y="9071"/>
                  </a:cubicBezTo>
                  <a:lnTo>
                    <a:pt x="17780000" y="1895929"/>
                  </a:lnTo>
                  <a:cubicBezTo>
                    <a:pt x="17780000" y="1898335"/>
                    <a:pt x="17779045" y="1900642"/>
                    <a:pt x="17777343" y="1902343"/>
                  </a:cubicBezTo>
                  <a:cubicBezTo>
                    <a:pt x="17775642" y="1904044"/>
                    <a:pt x="17773335" y="1905000"/>
                    <a:pt x="17770929" y="1905000"/>
                  </a:cubicBezTo>
                  <a:lnTo>
                    <a:pt x="9071" y="1905000"/>
                  </a:lnTo>
                  <a:cubicBezTo>
                    <a:pt x="6666" y="1905000"/>
                    <a:pt x="4358" y="1904044"/>
                    <a:pt x="2657" y="1902343"/>
                  </a:cubicBezTo>
                  <a:cubicBezTo>
                    <a:pt x="956" y="1900642"/>
                    <a:pt x="0" y="1898335"/>
                    <a:pt x="0" y="1895929"/>
                  </a:cubicBezTo>
                  <a:lnTo>
                    <a:pt x="0" y="9071"/>
                  </a:lnTo>
                  <a:cubicBezTo>
                    <a:pt x="0" y="6666"/>
                    <a:pt x="956" y="4358"/>
                    <a:pt x="2657" y="2657"/>
                  </a:cubicBezTo>
                  <a:cubicBezTo>
                    <a:pt x="4358" y="956"/>
                    <a:pt x="6666" y="0"/>
                    <a:pt x="9071" y="0"/>
                  </a:cubicBezTo>
                  <a:close/>
                </a:path>
              </a:pathLst>
            </a:custGeom>
            <a:solidFill>
              <a:srgbClr val="E7E2F6"/>
            </a:solidFill>
            <a:ln w="19050" cap="sq">
              <a:solidFill>
                <a:srgbClr val="0078D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17780000" cy="188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r>
                <a:rPr lang="en-US" sz="22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Cosmos DB checkpoints · stable executor identity · versioned state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476500" y="7591425"/>
            <a:ext cx="133350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Persisted state supports recovery. It does not guarantee safe replay of external side effects.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31" name="AutoShape 31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09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Live demo: interruption and recovery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2500" y="2381250"/>
            <a:ext cx="2952750" cy="952500"/>
            <a:chOff x="0" y="0"/>
            <a:chExt cx="3937000" cy="127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37000" cy="1270000"/>
            </a:xfrm>
            <a:custGeom>
              <a:avLst/>
              <a:gdLst/>
              <a:ahLst/>
              <a:cxnLst/>
              <a:rect l="l" t="t" r="r" b="b"/>
              <a:pathLst>
                <a:path w="3937000" h="1270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1229032"/>
                  </a:lnTo>
                  <a:cubicBezTo>
                    <a:pt x="3937000" y="1239898"/>
                    <a:pt x="3932684" y="1250318"/>
                    <a:pt x="3925001" y="1258001"/>
                  </a:cubicBezTo>
                  <a:cubicBezTo>
                    <a:pt x="3917318" y="1265684"/>
                    <a:pt x="3906898" y="1270000"/>
                    <a:pt x="3896032" y="1270000"/>
                  </a:cubicBezTo>
                  <a:lnTo>
                    <a:pt x="40968" y="1270000"/>
                  </a:lnTo>
                  <a:cubicBezTo>
                    <a:pt x="30102" y="1270000"/>
                    <a:pt x="19682" y="1265684"/>
                    <a:pt x="11999" y="1258001"/>
                  </a:cubicBezTo>
                  <a:cubicBezTo>
                    <a:pt x="4316" y="1250318"/>
                    <a:pt x="0" y="1239898"/>
                    <a:pt x="0" y="1229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4E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937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1  Pause at approval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333875" y="2381250"/>
            <a:ext cx="2952750" cy="952500"/>
            <a:chOff x="0" y="0"/>
            <a:chExt cx="3937000" cy="127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37000" cy="1270000"/>
            </a:xfrm>
            <a:custGeom>
              <a:avLst/>
              <a:gdLst/>
              <a:ahLst/>
              <a:cxnLst/>
              <a:rect l="l" t="t" r="r" b="b"/>
              <a:pathLst>
                <a:path w="3937000" h="1270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1229032"/>
                  </a:lnTo>
                  <a:cubicBezTo>
                    <a:pt x="3937000" y="1239898"/>
                    <a:pt x="3932684" y="1250318"/>
                    <a:pt x="3925001" y="1258001"/>
                  </a:cubicBezTo>
                  <a:cubicBezTo>
                    <a:pt x="3917318" y="1265684"/>
                    <a:pt x="3906898" y="1270000"/>
                    <a:pt x="3896032" y="1270000"/>
                  </a:cubicBezTo>
                  <a:lnTo>
                    <a:pt x="40968" y="1270000"/>
                  </a:lnTo>
                  <a:cubicBezTo>
                    <a:pt x="30102" y="1270000"/>
                    <a:pt x="19682" y="1265684"/>
                    <a:pt x="11999" y="1258001"/>
                  </a:cubicBezTo>
                  <a:cubicBezTo>
                    <a:pt x="4316" y="1250318"/>
                    <a:pt x="0" y="1239898"/>
                    <a:pt x="0" y="1229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3937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2  Stop process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715250" y="2381250"/>
            <a:ext cx="2952750" cy="952500"/>
            <a:chOff x="0" y="0"/>
            <a:chExt cx="3937000" cy="127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37000" cy="1270000"/>
            </a:xfrm>
            <a:custGeom>
              <a:avLst/>
              <a:gdLst/>
              <a:ahLst/>
              <a:cxnLst/>
              <a:rect l="l" t="t" r="r" b="b"/>
              <a:pathLst>
                <a:path w="3937000" h="1270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1229032"/>
                  </a:lnTo>
                  <a:cubicBezTo>
                    <a:pt x="3937000" y="1239898"/>
                    <a:pt x="3932684" y="1250318"/>
                    <a:pt x="3925001" y="1258001"/>
                  </a:cubicBezTo>
                  <a:cubicBezTo>
                    <a:pt x="3917318" y="1265684"/>
                    <a:pt x="3906898" y="1270000"/>
                    <a:pt x="3896032" y="1270000"/>
                  </a:cubicBezTo>
                  <a:lnTo>
                    <a:pt x="40968" y="1270000"/>
                  </a:lnTo>
                  <a:cubicBezTo>
                    <a:pt x="30102" y="1270000"/>
                    <a:pt x="19682" y="1265684"/>
                    <a:pt x="11999" y="1258001"/>
                  </a:cubicBezTo>
                  <a:cubicBezTo>
                    <a:pt x="4316" y="1250318"/>
                    <a:pt x="0" y="1239898"/>
                    <a:pt x="0" y="1229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3937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3  Restart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096625" y="2381250"/>
            <a:ext cx="2952750" cy="952500"/>
            <a:chOff x="0" y="0"/>
            <a:chExt cx="3937000" cy="127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37000" cy="1270000"/>
            </a:xfrm>
            <a:custGeom>
              <a:avLst/>
              <a:gdLst/>
              <a:ahLst/>
              <a:cxnLst/>
              <a:rect l="l" t="t" r="r" b="b"/>
              <a:pathLst>
                <a:path w="3937000" h="1270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1229032"/>
                  </a:lnTo>
                  <a:cubicBezTo>
                    <a:pt x="3937000" y="1239898"/>
                    <a:pt x="3932684" y="1250318"/>
                    <a:pt x="3925001" y="1258001"/>
                  </a:cubicBezTo>
                  <a:cubicBezTo>
                    <a:pt x="3917318" y="1265684"/>
                    <a:pt x="3906898" y="1270000"/>
                    <a:pt x="3896032" y="1270000"/>
                  </a:cubicBezTo>
                  <a:lnTo>
                    <a:pt x="40968" y="1270000"/>
                  </a:lnTo>
                  <a:cubicBezTo>
                    <a:pt x="30102" y="1270000"/>
                    <a:pt x="19682" y="1265684"/>
                    <a:pt x="11999" y="1258001"/>
                  </a:cubicBezTo>
                  <a:cubicBezTo>
                    <a:pt x="4316" y="1250318"/>
                    <a:pt x="0" y="1239898"/>
                    <a:pt x="0" y="1229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937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4  Load checkpoint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78000" y="2381250"/>
            <a:ext cx="2952750" cy="952500"/>
            <a:chOff x="0" y="0"/>
            <a:chExt cx="3937000" cy="127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37000" cy="1270000"/>
            </a:xfrm>
            <a:custGeom>
              <a:avLst/>
              <a:gdLst/>
              <a:ahLst/>
              <a:cxnLst/>
              <a:rect l="l" t="t" r="r" b="b"/>
              <a:pathLst>
                <a:path w="3937000" h="1270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1229032"/>
                  </a:lnTo>
                  <a:cubicBezTo>
                    <a:pt x="3937000" y="1239898"/>
                    <a:pt x="3932684" y="1250318"/>
                    <a:pt x="3925001" y="1258001"/>
                  </a:cubicBezTo>
                  <a:cubicBezTo>
                    <a:pt x="3917318" y="1265684"/>
                    <a:pt x="3906898" y="1270000"/>
                    <a:pt x="3896032" y="1270000"/>
                  </a:cubicBezTo>
                  <a:lnTo>
                    <a:pt x="40968" y="1270000"/>
                  </a:lnTo>
                  <a:cubicBezTo>
                    <a:pt x="30102" y="1270000"/>
                    <a:pt x="19682" y="1265684"/>
                    <a:pt x="11999" y="1258001"/>
                  </a:cubicBezTo>
                  <a:cubicBezTo>
                    <a:pt x="4316" y="1250318"/>
                    <a:pt x="0" y="1239898"/>
                    <a:pt x="0" y="1229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4E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3937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5  Restore pending approval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476750"/>
            <a:ext cx="7620000" cy="1619250"/>
            <a:chOff x="0" y="0"/>
            <a:chExt cx="10160000" cy="2159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17253D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25000" y="4476750"/>
            <a:ext cx="7620000" cy="1619250"/>
            <a:chOff x="0" y="0"/>
            <a:chExt cx="10160000" cy="2159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60000" cy="2159000"/>
            </a:xfrm>
            <a:custGeom>
              <a:avLst/>
              <a:gdLst/>
              <a:ahLst/>
              <a:cxnLst/>
              <a:rect l="l" t="t" r="r" b="b"/>
              <a:pathLst>
                <a:path w="10160000" h="2159000">
                  <a:moveTo>
                    <a:pt x="0" y="0"/>
                  </a:moveTo>
                  <a:lnTo>
                    <a:pt x="10160000" y="0"/>
                  </a:lnTo>
                  <a:lnTo>
                    <a:pt x="10160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17253D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160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524000" y="4905375"/>
            <a:ext cx="6858000" cy="40576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16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make checkpoints CASE=CASE-71F0314E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Segoe UI"/>
              </a:rPr>
              <a:t>8 checkpoints, one per superstep, one graph signature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Segoe UI"/>
              </a:rPr>
              <a:t>iter 7 ... approval:CASE-71F0314E  &lt;- PARKED ON A HUMAN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06000" y="4905375"/>
            <a:ext cx="6858000" cy="40576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16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make kill-orchestrator: answers again after 9 s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Segoe UI"/>
              </a:rPr>
              <a:t>every old replica replaced after 80-91 s - then approve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Segoe UI"/>
              </a:rPr>
              <a:t>resumed from the checkpoint: no agent re-ran; completed ~30 s later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10250" y="7486650"/>
            <a:ext cx="66675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00A4EF"/>
                </a:solidFill>
                <a:latin typeface="Segoe UI"/>
                <a:ea typeface="Segoe UI"/>
                <a:cs typeface="Segoe UI"/>
                <a:sym typeface="Segoe UI"/>
              </a:rPr>
              <a:t>Fallback: docs/assets/fallbacks (recorded run)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31" name="AutoShape 31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2A446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10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Policy code decides whether an action may proceed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2190750"/>
            <a:ext cx="15240000" cy="5715000"/>
            <a:chOff x="0" y="0"/>
            <a:chExt cx="20320000" cy="762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320000" cy="7620000"/>
            </a:xfrm>
            <a:custGeom>
              <a:avLst/>
              <a:gdLst/>
              <a:ahLst/>
              <a:cxnLst/>
              <a:rect l="l" t="t" r="r" b="b"/>
              <a:pathLst>
                <a:path w="20320000" h="7620000">
                  <a:moveTo>
                    <a:pt x="0" y="0"/>
                  </a:moveTo>
                  <a:lnTo>
                    <a:pt x="20320000" y="0"/>
                  </a:lnTo>
                  <a:lnTo>
                    <a:pt x="203200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3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19250" y="2819400"/>
            <a:ext cx="571500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Production change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48750" y="2819400"/>
            <a:ext cx="619125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Approval required (low-risk staging may auto-approve)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143000" y="3762375"/>
            <a:ext cx="15240000" cy="0"/>
          </a:xfrm>
          <a:prstGeom prst="line">
            <a:avLst/>
          </a:prstGeom>
          <a:ln w="9525" cap="flat">
            <a:solidFill>
              <a:srgbClr val="E7E2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19250" y="4010025"/>
            <a:ext cx="571500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Change freeze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48750" y="4010025"/>
            <a:ext cx="619125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2A446F"/>
                </a:solidFill>
                <a:latin typeface="Segoe UI"/>
                <a:ea typeface="Segoe UI"/>
                <a:cs typeface="Segoe UI"/>
                <a:sym typeface="Segoe UI"/>
              </a:rPr>
              <a:t>Blocked - or break glass (director) if it caused the incident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143000" y="4953000"/>
            <a:ext cx="15240000" cy="0"/>
          </a:xfrm>
          <a:prstGeom prst="line">
            <a:avLst/>
          </a:prstGeom>
          <a:ln w="9525" cap="flat">
            <a:solidFill>
              <a:srgbClr val="E7E2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619250" y="5200650"/>
            <a:ext cx="571500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Invalid / expired approval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48750" y="5200650"/>
            <a:ext cx="619125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2A446F"/>
                </a:solidFill>
                <a:latin typeface="Segoe UI"/>
                <a:ea typeface="Segoe UI"/>
                <a:cs typeface="Segoe UI"/>
                <a:sym typeface="Segoe UI"/>
              </a:rPr>
              <a:t>Dispatch blocked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143000" y="6143625"/>
            <a:ext cx="15240000" cy="0"/>
          </a:xfrm>
          <a:prstGeom prst="line">
            <a:avLst/>
          </a:prstGeom>
          <a:ln w="9525" cap="flat">
            <a:solidFill>
              <a:srgbClr val="E7E2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619250" y="6391275"/>
            <a:ext cx="571500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Rejected request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48750" y="6391275"/>
            <a:ext cx="619125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2A446F"/>
                </a:solidFill>
                <a:latin typeface="Segoe UI"/>
                <a:ea typeface="Segoe UI"/>
                <a:cs typeface="Segoe UI"/>
                <a:sym typeface="Segoe UI"/>
              </a:rPr>
              <a:t>Remains unexecuted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000" y="8277225"/>
            <a:ext cx="11430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Validated ATLAS rules only — no invented thresholds or entitlements.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22" name="AutoShape 22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11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Approval binds a person to a specific plan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2000250"/>
            <a:ext cx="15049500" cy="5619750"/>
            <a:chOff x="0" y="0"/>
            <a:chExt cx="20066000" cy="7493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0066000" cy="7493000"/>
              <a:chOff x="0" y="0"/>
              <a:chExt cx="20066000" cy="7493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0066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20066000" h="7493000">
                    <a:moveTo>
                      <a:pt x="0" y="0"/>
                    </a:moveTo>
                    <a:lnTo>
                      <a:pt x="20066000" y="0"/>
                    </a:lnTo>
                    <a:lnTo>
                      <a:pt x="20066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0066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889000" y="723900"/>
              <a:ext cx="7620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Plan + version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89000" y="1397000"/>
              <a:ext cx="7112000" cy="38100"/>
              <a:chOff x="0" y="0"/>
              <a:chExt cx="7112000" cy="381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11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381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71120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0541000" y="723900"/>
              <a:ext cx="7620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Affected services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0541000" y="1397000"/>
              <a:ext cx="7112000" cy="38100"/>
              <a:chOff x="0" y="0"/>
              <a:chExt cx="7112000" cy="381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11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381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1120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889000" y="2311400"/>
              <a:ext cx="7620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Evidence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89000" y="2984500"/>
              <a:ext cx="7112000" cy="38100"/>
              <a:chOff x="0" y="0"/>
              <a:chExt cx="7112000" cy="381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711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381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71120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0541000" y="2311400"/>
              <a:ext cx="7620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Risk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541000" y="2984500"/>
              <a:ext cx="7112000" cy="38100"/>
              <a:chOff x="0" y="0"/>
              <a:chExt cx="7112000" cy="381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11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381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71120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889000" y="3898900"/>
              <a:ext cx="7620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Rollback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89000" y="4572000"/>
              <a:ext cx="7112000" cy="38100"/>
              <a:chOff x="0" y="0"/>
              <a:chExt cx="7112000" cy="381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11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381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71120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0541000" y="3898900"/>
              <a:ext cx="7620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Approver authorization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0541000" y="4572000"/>
              <a:ext cx="7112000" cy="38100"/>
              <a:chOff x="0" y="0"/>
              <a:chExt cx="7112000" cy="381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711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381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71120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889000" y="5486400"/>
              <a:ext cx="7620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Expiry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89000" y="6159500"/>
              <a:ext cx="7112000" cy="38100"/>
              <a:chOff x="0" y="0"/>
              <a:chExt cx="7112000" cy="381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11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381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71120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0541000" y="5486400"/>
              <a:ext cx="7620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Approve / reject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0541000" y="6159500"/>
              <a:ext cx="7112000" cy="38100"/>
              <a:chOff x="0" y="0"/>
              <a:chExt cx="7112000" cy="381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711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381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A4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71120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905000" y="7972425"/>
            <a:ext cx="14287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Approval binds the decision to the reviewed plan — and must be revalidated before execution.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44" name="AutoShape 44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12</a:t>
              </a:r>
            </a:p>
          </p:txBody>
        </p:sp>
      </p:grpSp>
      <p:sp>
        <p:nvSpPr>
          <p:cNvPr id="64" name="Freeform 64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Live demo: approval and rejection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381250" y="5238750"/>
            <a:ext cx="5715000" cy="1047750"/>
            <a:chOff x="0" y="0"/>
            <a:chExt cx="7620000" cy="139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0000" cy="1397000"/>
            </a:xfrm>
            <a:custGeom>
              <a:avLst/>
              <a:gdLst/>
              <a:ahLst/>
              <a:cxnLst/>
              <a:rect l="l" t="t" r="r" b="b"/>
              <a:pathLst>
                <a:path w="7620000" h="1397000">
                  <a:moveTo>
                    <a:pt x="21167" y="0"/>
                  </a:moveTo>
                  <a:lnTo>
                    <a:pt x="7598833" y="0"/>
                  </a:lnTo>
                  <a:cubicBezTo>
                    <a:pt x="7610523" y="0"/>
                    <a:pt x="7620000" y="9477"/>
                    <a:pt x="7620000" y="21167"/>
                  </a:cubicBezTo>
                  <a:lnTo>
                    <a:pt x="7620000" y="1375833"/>
                  </a:lnTo>
                  <a:cubicBezTo>
                    <a:pt x="7620000" y="1387523"/>
                    <a:pt x="7610523" y="1397000"/>
                    <a:pt x="7598833" y="1397000"/>
                  </a:cubicBezTo>
                  <a:lnTo>
                    <a:pt x="21167" y="1397000"/>
                  </a:lnTo>
                  <a:cubicBezTo>
                    <a:pt x="9477" y="1397000"/>
                    <a:pt x="0" y="1387523"/>
                    <a:pt x="0" y="1375833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7620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AUTHORIZED APPROVAL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191750" y="5238750"/>
            <a:ext cx="5715000" cy="1047750"/>
            <a:chOff x="0" y="0"/>
            <a:chExt cx="7620000" cy="139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620000" cy="1397000"/>
            </a:xfrm>
            <a:custGeom>
              <a:avLst/>
              <a:gdLst/>
              <a:ahLst/>
              <a:cxnLst/>
              <a:rect l="l" t="t" r="r" b="b"/>
              <a:pathLst>
                <a:path w="7620000" h="1397000">
                  <a:moveTo>
                    <a:pt x="21167" y="0"/>
                  </a:moveTo>
                  <a:lnTo>
                    <a:pt x="7598833" y="0"/>
                  </a:lnTo>
                  <a:cubicBezTo>
                    <a:pt x="7610523" y="0"/>
                    <a:pt x="7620000" y="9477"/>
                    <a:pt x="7620000" y="21167"/>
                  </a:cubicBezTo>
                  <a:lnTo>
                    <a:pt x="7620000" y="1375833"/>
                  </a:lnTo>
                  <a:cubicBezTo>
                    <a:pt x="7620000" y="1387523"/>
                    <a:pt x="7610523" y="1397000"/>
                    <a:pt x="7598833" y="1397000"/>
                  </a:cubicBezTo>
                  <a:lnTo>
                    <a:pt x="21167" y="1397000"/>
                  </a:lnTo>
                  <a:cubicBezTo>
                    <a:pt x="9477" y="1397000"/>
                    <a:pt x="0" y="1387523"/>
                    <a:pt x="0" y="1375833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4E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7620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DENIED / REJECTED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57500" y="7439025"/>
            <a:ext cx="1257300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Authenticated human approval cannot be substituted by model-generated fields or tool arguments.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18" name="AutoShape 18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2A446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13</a:t>
              </a:r>
            </a:p>
          </p:txBody>
        </p:sp>
      </p:grpSp>
      <p:sp>
        <p:nvSpPr>
          <p:cNvPr id="38" name="Freeform 38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9" name="Picture 38" descr="ep2-approval-reas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000" y="1950000"/>
            <a:ext cx="10000000" cy="2999999"/>
          </a:xfrm>
          <a:prstGeom prst="rect">
            <a:avLst/>
          </a:prstGeom>
          <a:ln w="12700">
            <a:solidFill>
              <a:srgbClr val="2B4C7E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Recovery must account for side effects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3500" y="2571750"/>
            <a:ext cx="4286250" cy="1381125"/>
            <a:chOff x="0" y="0"/>
            <a:chExt cx="5715000" cy="1841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1813278"/>
                  </a:lnTo>
                  <a:cubicBezTo>
                    <a:pt x="5715000" y="1820763"/>
                    <a:pt x="5712027" y="1827941"/>
                    <a:pt x="5706734" y="1833234"/>
                  </a:cubicBezTo>
                  <a:cubicBezTo>
                    <a:pt x="5701441" y="1838527"/>
                    <a:pt x="5694263" y="1841500"/>
                    <a:pt x="5686778" y="1841500"/>
                  </a:cubicBezTo>
                  <a:lnTo>
                    <a:pt x="28222" y="1841500"/>
                  </a:lnTo>
                  <a:cubicBezTo>
                    <a:pt x="20737" y="1841500"/>
                    <a:pt x="13559" y="1838527"/>
                    <a:pt x="8266" y="1833234"/>
                  </a:cubicBezTo>
                  <a:cubicBezTo>
                    <a:pt x="2973" y="1827941"/>
                    <a:pt x="0" y="1820763"/>
                    <a:pt x="0" y="18132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5715000" cy="182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r>
                <a:rPr lang="en-US" sz="22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Completed read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5619750" y="3257550"/>
            <a:ext cx="1285875" cy="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6905625" y="2571750"/>
            <a:ext cx="4286250" cy="1381125"/>
            <a:chOff x="0" y="0"/>
            <a:chExt cx="5715000" cy="1841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1813278"/>
                  </a:lnTo>
                  <a:cubicBezTo>
                    <a:pt x="5715000" y="1820763"/>
                    <a:pt x="5712027" y="1827941"/>
                    <a:pt x="5706734" y="1833234"/>
                  </a:cubicBezTo>
                  <a:cubicBezTo>
                    <a:pt x="5701441" y="1838527"/>
                    <a:pt x="5694263" y="1841500"/>
                    <a:pt x="5686778" y="1841500"/>
                  </a:cubicBezTo>
                  <a:lnTo>
                    <a:pt x="28222" y="1841500"/>
                  </a:lnTo>
                  <a:cubicBezTo>
                    <a:pt x="20737" y="1841500"/>
                    <a:pt x="13559" y="1838527"/>
                    <a:pt x="8266" y="1833234"/>
                  </a:cubicBezTo>
                  <a:cubicBezTo>
                    <a:pt x="2973" y="1827941"/>
                    <a:pt x="0" y="1820763"/>
                    <a:pt x="0" y="18132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4E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5715000" cy="182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r>
                <a:rPr lang="en-US" sz="22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Pending approval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1191875" y="3257550"/>
            <a:ext cx="1285875" cy="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2477750" y="2571750"/>
            <a:ext cx="4286250" cy="1381125"/>
            <a:chOff x="0" y="0"/>
            <a:chExt cx="5715000" cy="1841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28222" y="0"/>
                  </a:moveTo>
                  <a:lnTo>
                    <a:pt x="5686778" y="0"/>
                  </a:lnTo>
                  <a:cubicBezTo>
                    <a:pt x="5694263" y="0"/>
                    <a:pt x="5701441" y="2973"/>
                    <a:pt x="5706734" y="8266"/>
                  </a:cubicBezTo>
                  <a:cubicBezTo>
                    <a:pt x="5712027" y="13559"/>
                    <a:pt x="5715000" y="20737"/>
                    <a:pt x="5715000" y="28222"/>
                  </a:cubicBezTo>
                  <a:lnTo>
                    <a:pt x="5715000" y="1813278"/>
                  </a:lnTo>
                  <a:cubicBezTo>
                    <a:pt x="5715000" y="1820763"/>
                    <a:pt x="5712027" y="1827941"/>
                    <a:pt x="5706734" y="1833234"/>
                  </a:cubicBezTo>
                  <a:cubicBezTo>
                    <a:pt x="5701441" y="1838527"/>
                    <a:pt x="5694263" y="1841500"/>
                    <a:pt x="5686778" y="1841500"/>
                  </a:cubicBezTo>
                  <a:lnTo>
                    <a:pt x="28222" y="1841500"/>
                  </a:lnTo>
                  <a:cubicBezTo>
                    <a:pt x="20737" y="1841500"/>
                    <a:pt x="13559" y="1838527"/>
                    <a:pt x="8266" y="1833234"/>
                  </a:cubicBezTo>
                  <a:cubicBezTo>
                    <a:pt x="2973" y="1827941"/>
                    <a:pt x="0" y="1820763"/>
                    <a:pt x="0" y="18132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5715000" cy="182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r>
                <a:rPr lang="en-US" sz="22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Dispatched command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33500" y="4724400"/>
            <a:ext cx="42862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Retryable reads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05625" y="4724400"/>
            <a:ext cx="42862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Persisted decision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77750" y="4724400"/>
            <a:ext cx="42862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Idempotency key + execution status check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81250" y="6905625"/>
            <a:ext cx="1352550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Workflow resume and business idempotency address different concerns.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22" name="AutoShape 22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14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The workflow is ready for governed dispatch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619500"/>
            <a:ext cx="2571750" cy="1238250"/>
            <a:chOff x="0" y="0"/>
            <a:chExt cx="3429000" cy="165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29000" cy="1651000"/>
            </a:xfrm>
            <a:custGeom>
              <a:avLst/>
              <a:gdLst/>
              <a:ahLst/>
              <a:cxnLst/>
              <a:rect l="l" t="t" r="r" b="b"/>
              <a:pathLst>
                <a:path w="3429000" h="1651000">
                  <a:moveTo>
                    <a:pt x="47037" y="0"/>
                  </a:moveTo>
                  <a:lnTo>
                    <a:pt x="3381963" y="0"/>
                  </a:lnTo>
                  <a:cubicBezTo>
                    <a:pt x="3394438" y="0"/>
                    <a:pt x="3406402" y="4956"/>
                    <a:pt x="3415223" y="13777"/>
                  </a:cubicBezTo>
                  <a:cubicBezTo>
                    <a:pt x="3424044" y="22598"/>
                    <a:pt x="3429000" y="34562"/>
                    <a:pt x="3429000" y="47037"/>
                  </a:cubicBezTo>
                  <a:lnTo>
                    <a:pt x="3429000" y="1603963"/>
                  </a:lnTo>
                  <a:cubicBezTo>
                    <a:pt x="3429000" y="1616438"/>
                    <a:pt x="3424044" y="1628402"/>
                    <a:pt x="3415223" y="1637223"/>
                  </a:cubicBezTo>
                  <a:cubicBezTo>
                    <a:pt x="3406402" y="1646044"/>
                    <a:pt x="3394438" y="1651000"/>
                    <a:pt x="3381963" y="1651000"/>
                  </a:cubicBezTo>
                  <a:lnTo>
                    <a:pt x="47037" y="1651000"/>
                  </a:lnTo>
                  <a:cubicBezTo>
                    <a:pt x="34562" y="1651000"/>
                    <a:pt x="22598" y="1646044"/>
                    <a:pt x="13777" y="1637223"/>
                  </a:cubicBezTo>
                  <a:cubicBezTo>
                    <a:pt x="4956" y="1628402"/>
                    <a:pt x="0" y="1616438"/>
                    <a:pt x="0" y="1603963"/>
                  </a:cubicBezTo>
                  <a:lnTo>
                    <a:pt x="0" y="47037"/>
                  </a:lnTo>
                  <a:cubicBezTo>
                    <a:pt x="0" y="34562"/>
                    <a:pt x="4956" y="22598"/>
                    <a:pt x="13777" y="13777"/>
                  </a:cubicBezTo>
                  <a:cubicBezTo>
                    <a:pt x="22598" y="4956"/>
                    <a:pt x="34562" y="0"/>
                    <a:pt x="47037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429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Browser / web user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48500" y="2047875"/>
            <a:ext cx="4191000" cy="1143000"/>
            <a:chOff x="0" y="0"/>
            <a:chExt cx="5588000" cy="152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0" cy="1524000"/>
            </a:xfrm>
            <a:custGeom>
              <a:avLst/>
              <a:gdLst/>
              <a:ahLst/>
              <a:cxnLst/>
              <a:rect l="l" t="t" r="r" b="b"/>
              <a:pathLst>
                <a:path w="5588000" h="1524000">
                  <a:moveTo>
                    <a:pt x="28864" y="0"/>
                  </a:moveTo>
                  <a:lnTo>
                    <a:pt x="5559136" y="0"/>
                  </a:lnTo>
                  <a:cubicBezTo>
                    <a:pt x="5566792" y="0"/>
                    <a:pt x="5574133" y="3041"/>
                    <a:pt x="5579546" y="8454"/>
                  </a:cubicBezTo>
                  <a:cubicBezTo>
                    <a:pt x="5584959" y="13867"/>
                    <a:pt x="5588000" y="21209"/>
                    <a:pt x="5588000" y="28864"/>
                  </a:cubicBezTo>
                  <a:lnTo>
                    <a:pt x="5588000" y="1495136"/>
                  </a:lnTo>
                  <a:cubicBezTo>
                    <a:pt x="5588000" y="1502792"/>
                    <a:pt x="5584959" y="1510133"/>
                    <a:pt x="5579546" y="1515546"/>
                  </a:cubicBezTo>
                  <a:cubicBezTo>
                    <a:pt x="5574133" y="1520959"/>
                    <a:pt x="5566792" y="1524000"/>
                    <a:pt x="5559136" y="1524000"/>
                  </a:cubicBezTo>
                  <a:lnTo>
                    <a:pt x="28864" y="1524000"/>
                  </a:lnTo>
                  <a:cubicBezTo>
                    <a:pt x="21209" y="1524000"/>
                    <a:pt x="13867" y="1520959"/>
                    <a:pt x="8454" y="1515546"/>
                  </a:cubicBezTo>
                  <a:cubicBezTo>
                    <a:pt x="3041" y="1510133"/>
                    <a:pt x="0" y="1502792"/>
                    <a:pt x="0" y="1495136"/>
                  </a:cubicBezTo>
                  <a:lnTo>
                    <a:pt x="0" y="28864"/>
                  </a:lnTo>
                  <a:cubicBezTo>
                    <a:pt x="0" y="21209"/>
                    <a:pt x="3041" y="13867"/>
                    <a:pt x="8454" y="8454"/>
                  </a:cubicBezTo>
                  <a:cubicBezTo>
                    <a:pt x="13867" y="3041"/>
                    <a:pt x="21209" y="0"/>
                    <a:pt x="28864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5588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Microsoft Foundry service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7500" y="4048125"/>
            <a:ext cx="4953000" cy="1428750"/>
            <a:chOff x="0" y="0"/>
            <a:chExt cx="66040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0" cy="1905000"/>
            </a:xfrm>
            <a:custGeom>
              <a:avLst/>
              <a:gdLst/>
              <a:ahLst/>
              <a:cxnLst/>
              <a:rect l="l" t="t" r="r" b="b"/>
              <a:pathLst>
                <a:path w="6604000" h="1905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880577"/>
                  </a:lnTo>
                  <a:cubicBezTo>
                    <a:pt x="6604000" y="1887054"/>
                    <a:pt x="6601427" y="1893266"/>
                    <a:pt x="6596847" y="1897847"/>
                  </a:cubicBezTo>
                  <a:cubicBezTo>
                    <a:pt x="6592267" y="1902427"/>
                    <a:pt x="6586055" y="1905000"/>
                    <a:pt x="6579577" y="1905000"/>
                  </a:cubicBezTo>
                  <a:lnTo>
                    <a:pt x="24423" y="1905000"/>
                  </a:lnTo>
                  <a:cubicBezTo>
                    <a:pt x="17946" y="1905000"/>
                    <a:pt x="11734" y="1902427"/>
                    <a:pt x="7153" y="1897847"/>
                  </a:cubicBezTo>
                  <a:cubicBezTo>
                    <a:pt x="2573" y="1893266"/>
                    <a:pt x="0" y="1887054"/>
                    <a:pt x="0" y="1880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6604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1"/>
                </a:lnSpc>
              </a:pPr>
              <a:r>
                <a:rPr lang="en-US" sz="2175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Agent Framework</a:t>
              </a:r>
            </a:p>
            <a:p>
              <a:pPr algn="ctr">
                <a:lnSpc>
                  <a:spcPts val="2501"/>
                </a:lnSpc>
              </a:pPr>
              <a:r>
                <a:rPr lang="en-US" sz="2175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orchestrator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48500" y="6477000"/>
            <a:ext cx="4191000" cy="1143000"/>
            <a:chOff x="0" y="0"/>
            <a:chExt cx="5588000" cy="152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88000" cy="1524000"/>
            </a:xfrm>
            <a:custGeom>
              <a:avLst/>
              <a:gdLst/>
              <a:ahLst/>
              <a:cxnLst/>
              <a:rect l="l" t="t" r="r" b="b"/>
              <a:pathLst>
                <a:path w="5588000" h="1524000">
                  <a:moveTo>
                    <a:pt x="28864" y="0"/>
                  </a:moveTo>
                  <a:lnTo>
                    <a:pt x="5559136" y="0"/>
                  </a:lnTo>
                  <a:cubicBezTo>
                    <a:pt x="5566792" y="0"/>
                    <a:pt x="5574133" y="3041"/>
                    <a:pt x="5579546" y="8454"/>
                  </a:cubicBezTo>
                  <a:cubicBezTo>
                    <a:pt x="5584959" y="13867"/>
                    <a:pt x="5588000" y="21209"/>
                    <a:pt x="5588000" y="28864"/>
                  </a:cubicBezTo>
                  <a:lnTo>
                    <a:pt x="5588000" y="1495136"/>
                  </a:lnTo>
                  <a:cubicBezTo>
                    <a:pt x="5588000" y="1502792"/>
                    <a:pt x="5584959" y="1510133"/>
                    <a:pt x="5579546" y="1515546"/>
                  </a:cubicBezTo>
                  <a:cubicBezTo>
                    <a:pt x="5574133" y="1520959"/>
                    <a:pt x="5566792" y="1524000"/>
                    <a:pt x="5559136" y="1524000"/>
                  </a:cubicBezTo>
                  <a:lnTo>
                    <a:pt x="28864" y="1524000"/>
                  </a:lnTo>
                  <a:cubicBezTo>
                    <a:pt x="21209" y="1524000"/>
                    <a:pt x="13867" y="1520959"/>
                    <a:pt x="8454" y="1515546"/>
                  </a:cubicBezTo>
                  <a:cubicBezTo>
                    <a:pt x="3041" y="1510133"/>
                    <a:pt x="0" y="1502792"/>
                    <a:pt x="0" y="1495136"/>
                  </a:cubicBezTo>
                  <a:lnTo>
                    <a:pt x="0" y="28864"/>
                  </a:lnTo>
                  <a:cubicBezTo>
                    <a:pt x="0" y="21209"/>
                    <a:pt x="3041" y="13867"/>
                    <a:pt x="8454" y="8454"/>
                  </a:cubicBezTo>
                  <a:cubicBezTo>
                    <a:pt x="13867" y="3041"/>
                    <a:pt x="21209" y="0"/>
                    <a:pt x="28864" y="0"/>
                  </a:cubicBezTo>
                  <a:close/>
                </a:path>
              </a:pathLst>
            </a:custGeom>
            <a:solidFill>
              <a:srgbClr val="E7E2F6"/>
            </a:solidFill>
            <a:ln w="19050" cap="sq">
              <a:solidFill>
                <a:srgbClr val="0078D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5588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Cosmos DB checkpoints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049250" y="3333750"/>
            <a:ext cx="3619500" cy="1143000"/>
            <a:chOff x="0" y="0"/>
            <a:chExt cx="4826000" cy="1524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26000" cy="1524000"/>
            </a:xfrm>
            <a:custGeom>
              <a:avLst/>
              <a:gdLst/>
              <a:ahLst/>
              <a:cxnLst/>
              <a:rect l="l" t="t" r="r" b="b"/>
              <a:pathLst>
                <a:path w="4826000" h="1524000">
                  <a:moveTo>
                    <a:pt x="33421" y="0"/>
                  </a:moveTo>
                  <a:lnTo>
                    <a:pt x="4792579" y="0"/>
                  </a:lnTo>
                  <a:cubicBezTo>
                    <a:pt x="4811037" y="0"/>
                    <a:pt x="4826000" y="14963"/>
                    <a:pt x="4826000" y="33421"/>
                  </a:cubicBezTo>
                  <a:lnTo>
                    <a:pt x="4826000" y="1490579"/>
                  </a:lnTo>
                  <a:cubicBezTo>
                    <a:pt x="4826000" y="1509037"/>
                    <a:pt x="4811037" y="1524000"/>
                    <a:pt x="4792579" y="1524000"/>
                  </a:cubicBezTo>
                  <a:lnTo>
                    <a:pt x="33421" y="1524000"/>
                  </a:lnTo>
                  <a:cubicBezTo>
                    <a:pt x="14963" y="1524000"/>
                    <a:pt x="0" y="1509037"/>
                    <a:pt x="0" y="1490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A4E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4826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Approval checkpoint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49250" y="5715000"/>
            <a:ext cx="3619500" cy="1428750"/>
            <a:chOff x="0" y="0"/>
            <a:chExt cx="4826000" cy="1905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26000" cy="1905000"/>
            </a:xfrm>
            <a:custGeom>
              <a:avLst/>
              <a:gdLst/>
              <a:ahLst/>
              <a:cxnLst/>
              <a:rect l="l" t="t" r="r" b="b"/>
              <a:pathLst>
                <a:path w="4826000" h="1905000">
                  <a:moveTo>
                    <a:pt x="33421" y="0"/>
                  </a:moveTo>
                  <a:lnTo>
                    <a:pt x="4792579" y="0"/>
                  </a:lnTo>
                  <a:cubicBezTo>
                    <a:pt x="4811037" y="0"/>
                    <a:pt x="4826000" y="14963"/>
                    <a:pt x="4826000" y="33421"/>
                  </a:cubicBezTo>
                  <a:lnTo>
                    <a:pt x="4826000" y="1871579"/>
                  </a:lnTo>
                  <a:cubicBezTo>
                    <a:pt x="4826000" y="1890037"/>
                    <a:pt x="4811037" y="1905000"/>
                    <a:pt x="4792579" y="1905000"/>
                  </a:cubicBezTo>
                  <a:lnTo>
                    <a:pt x="33421" y="1905000"/>
                  </a:lnTo>
                  <a:cubicBezTo>
                    <a:pt x="14963" y="1905000"/>
                    <a:pt x="0" y="1890037"/>
                    <a:pt x="0" y="1871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737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4826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Future: APIM / Service Bus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execution layer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3429000" y="4238625"/>
            <a:ext cx="3238500" cy="523875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9144000" y="3190875"/>
            <a:ext cx="0" cy="85725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9144000" y="5476875"/>
            <a:ext cx="0" cy="1000125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V="1">
            <a:off x="11620500" y="3905250"/>
            <a:ext cx="1428750" cy="857250"/>
          </a:xfrm>
          <a:prstGeom prst="line">
            <a:avLst/>
          </a:prstGeom>
          <a:ln w="38100" cap="rnd">
            <a:solidFill>
              <a:srgbClr val="00A4E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4859000" y="4476750"/>
            <a:ext cx="0" cy="1238250"/>
          </a:xfrm>
          <a:prstGeom prst="line">
            <a:avLst/>
          </a:prstGeom>
          <a:ln w="38100" cap="rnd">
            <a:solidFill>
              <a:srgbClr val="737373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2001500" y="7800975"/>
            <a:ext cx="542925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5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Episode 3 adds enterprise integration to this architecture.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8286750"/>
            <a:ext cx="12334875" cy="276225"/>
            <a:chOff x="0" y="0"/>
            <a:chExt cx="16446500" cy="3683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63500"/>
              <a:ext cx="101600" cy="304800"/>
              <a:chOff x="0" y="0"/>
              <a:chExt cx="101600" cy="304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01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048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016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90500" y="-9525"/>
              <a:ext cx="3429000" cy="33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Application / integration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4826000" y="63500"/>
              <a:ext cx="101600" cy="304800"/>
              <a:chOff x="0" y="0"/>
              <a:chExt cx="101600" cy="304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01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048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1016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5016500" y="-9525"/>
              <a:ext cx="2794000" cy="33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Agent reasoning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8890000" y="63500"/>
              <a:ext cx="101600" cy="304800"/>
              <a:chOff x="0" y="0"/>
              <a:chExt cx="101600" cy="304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01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048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00A4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016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9080500" y="-9525"/>
              <a:ext cx="3048000" cy="33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Approval / pending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13462000" y="63500"/>
              <a:ext cx="101600" cy="304800"/>
              <a:chOff x="0" y="0"/>
              <a:chExt cx="101600" cy="304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01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048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73737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38100"/>
                <a:ext cx="1016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13652500" y="-9525"/>
              <a:ext cx="2794000" cy="33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Future / inactive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48" name="AutoShape 48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15</a:t>
              </a:r>
            </a:p>
          </p:txBody>
        </p:sp>
      </p:grpSp>
      <p:sp>
        <p:nvSpPr>
          <p:cNvPr id="68" name="Freeform 68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Your next step: add a recovery scenario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6300" y="1809750"/>
            <a:ext cx="10477500" cy="79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9"/>
              </a:lnSpc>
            </a:pPr>
            <a:r>
              <a:rPr lang="en-US" sz="46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Persist. Interrupt. Resume. Verify.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300" y="2962275"/>
            <a:ext cx="9906000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Extend the workflow to persist state, simulate interruption and resume, and verify unapproved plans do not dispatch.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6300" y="5191125"/>
            <a:ext cx="104775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00A4EF"/>
                </a:solidFill>
                <a:latin typeface="Segoe UI"/>
                <a:ea typeface="Segoe UI"/>
                <a:cs typeface="Segoe UI"/>
                <a:sym typeface="Segoe UI"/>
              </a:rPr>
              <a:t>Q&amp;A — Where should your process pause?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0" y="1990725"/>
            <a:ext cx="6858000" cy="225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Agent Framework workflows  https://learn.microsoft.com/en-us/agent-framework/workflows/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Agent Framework overview  https://learn.microsoft.com/en-us/agent-framework/overview/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Source + samples  https://github.com/microsoft/agent-framework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ATLAS code and runbooks  published after the series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Next: Episode 3 - Agents That Take Action, Tuesday 13 October, 18:00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12" name="AutoShape 12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2A446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16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Other orchestration patterns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095500"/>
            <a:ext cx="7620000" cy="4953000"/>
            <a:chOff x="0" y="0"/>
            <a:chExt cx="10160000" cy="6604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160000" cy="6604000"/>
              <a:chOff x="0" y="0"/>
              <a:chExt cx="10160000" cy="6604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160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6604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A446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0160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71500" y="587375"/>
              <a:ext cx="889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Group chat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1500" y="2054225"/>
              <a:ext cx="8890000" cy="1706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Shared discussion space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Higher coordination overhead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Useful for open-ended collaboration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34500" y="2095500"/>
            <a:ext cx="7620000" cy="4953000"/>
            <a:chOff x="0" y="0"/>
            <a:chExt cx="10160000" cy="6604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0160000" cy="6604000"/>
              <a:chOff x="0" y="0"/>
              <a:chExt cx="10160000" cy="6604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160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6604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E7E2F6"/>
              </a:solidFill>
              <a:ln w="19050" cap="sq">
                <a:solidFill>
                  <a:srgbClr val="2A446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0160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71500" y="587375"/>
              <a:ext cx="889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Magentic orchestration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1500" y="2054225"/>
              <a:ext cx="8890000" cy="1706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Manager-led dynamic planning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Flexible, less deterministic</a:t>
              </a:r>
            </a:p>
            <a:p>
              <a:pPr algn="l">
                <a:lnSpc>
                  <a:spcPts val="3543"/>
                </a:lnSpc>
              </a:pPr>
              <a:r>
                <a:rPr lang="en-US" sz="20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Useful for exploratory task solving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952750" y="7734300"/>
            <a:ext cx="12382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Not every pattern fits ATLAS’s control and recovery requirements.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20" name="AutoShape 20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17</a:t>
              </a:r>
            </a:p>
          </p:txBody>
        </p:sp>
      </p:grpSp>
      <p:sp>
        <p:nvSpPr>
          <p:cNvPr id="40" name="Freeform 40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Two state stores solve different problems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381250"/>
            <a:ext cx="6667500" cy="2190750"/>
            <a:chOff x="0" y="0"/>
            <a:chExt cx="8890000" cy="292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90000" cy="2921000"/>
            </a:xfrm>
            <a:custGeom>
              <a:avLst/>
              <a:gdLst/>
              <a:ahLst/>
              <a:cxnLst/>
              <a:rect l="l" t="t" r="r" b="b"/>
              <a:pathLst>
                <a:path w="8890000" h="2921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2902857"/>
                  </a:lnTo>
                  <a:cubicBezTo>
                    <a:pt x="8890000" y="2912877"/>
                    <a:pt x="8881877" y="2921000"/>
                    <a:pt x="8871857" y="2921000"/>
                  </a:cubicBezTo>
                  <a:lnTo>
                    <a:pt x="18143" y="2921000"/>
                  </a:lnTo>
                  <a:cubicBezTo>
                    <a:pt x="8123" y="2921000"/>
                    <a:pt x="0" y="2912877"/>
                    <a:pt x="0" y="2902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8890000" cy="291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21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Foundry conversation / session state</a:t>
              </a:r>
            </a:p>
            <a:p>
              <a:pPr algn="ctr">
                <a:lnSpc>
                  <a:spcPts val="2415"/>
                </a:lnSpc>
              </a:pPr>
              <a:r>
                <a:rPr lang="en-US" sz="21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turn context · messages · session continuity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72750" y="2381250"/>
            <a:ext cx="6667500" cy="2190750"/>
            <a:chOff x="0" y="0"/>
            <a:chExt cx="8890000" cy="292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90000" cy="2921000"/>
            </a:xfrm>
            <a:custGeom>
              <a:avLst/>
              <a:gdLst/>
              <a:ahLst/>
              <a:cxnLst/>
              <a:rect l="l" t="t" r="r" b="b"/>
              <a:pathLst>
                <a:path w="8890000" h="2921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2902857"/>
                  </a:lnTo>
                  <a:cubicBezTo>
                    <a:pt x="8890000" y="2912877"/>
                    <a:pt x="8881877" y="2921000"/>
                    <a:pt x="8871857" y="2921000"/>
                  </a:cubicBezTo>
                  <a:lnTo>
                    <a:pt x="18143" y="2921000"/>
                  </a:lnTo>
                  <a:cubicBezTo>
                    <a:pt x="8123" y="2921000"/>
                    <a:pt x="0" y="2912877"/>
                    <a:pt x="0" y="2902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2A446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8890000" cy="291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21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Agent Framework workflow checkpoints</a:t>
              </a:r>
            </a:p>
            <a:p>
              <a:pPr algn="ctr">
                <a:lnSpc>
                  <a:spcPts val="2415"/>
                </a:lnSpc>
              </a:pPr>
              <a:r>
                <a:rPr lang="en-US" sz="21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progress · resumability · executor state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10250" y="5905500"/>
            <a:ext cx="6667500" cy="1619250"/>
            <a:chOff x="0" y="0"/>
            <a:chExt cx="8890000" cy="2159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90000" cy="2159000"/>
            </a:xfrm>
            <a:custGeom>
              <a:avLst/>
              <a:gdLst/>
              <a:ahLst/>
              <a:cxnLst/>
              <a:rect l="l" t="t" r="r" b="b"/>
              <a:pathLst>
                <a:path w="8890000" h="2159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2140857"/>
                  </a:lnTo>
                  <a:cubicBezTo>
                    <a:pt x="8890000" y="2150877"/>
                    <a:pt x="8881877" y="2159000"/>
                    <a:pt x="8871857" y="2159000"/>
                  </a:cubicBezTo>
                  <a:lnTo>
                    <a:pt x="18143" y="2159000"/>
                  </a:lnTo>
                  <a:cubicBezTo>
                    <a:pt x="8123" y="2159000"/>
                    <a:pt x="0" y="2150877"/>
                    <a:pt x="0" y="2140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E7E2F6"/>
            </a:solidFill>
            <a:ln w="19050" cap="sq">
              <a:solidFill>
                <a:srgbClr val="0078D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8890000" cy="214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5"/>
                </a:lnSpc>
              </a:pPr>
              <a:r>
                <a:rPr lang="en-US" sz="21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ATLAS custom state storage</a:t>
              </a:r>
            </a:p>
            <a:p>
              <a:pPr algn="ctr">
                <a:lnSpc>
                  <a:spcPts val="2415"/>
                </a:lnSpc>
              </a:pPr>
              <a:r>
                <a:rPr lang="en-US" sz="21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case schema · approval binding · execution status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381500" y="4572000"/>
            <a:ext cx="2952750" cy="1333500"/>
          </a:xfrm>
          <a:prstGeom prst="line">
            <a:avLst/>
          </a:prstGeom>
          <a:ln w="38100" cap="rnd">
            <a:solidFill>
              <a:srgbClr val="0078D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H="1">
            <a:off x="10953750" y="4572000"/>
            <a:ext cx="2952750" cy="1333500"/>
          </a:xfrm>
          <a:prstGeom prst="line">
            <a:avLst/>
          </a:prstGeom>
          <a:ln w="38100" cap="rnd">
            <a:solidFill>
              <a:srgbClr val="2A446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4762500" y="8086725"/>
            <a:ext cx="8763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50">
                <a:solidFill>
                  <a:srgbClr val="737373"/>
                </a:solidFill>
                <a:latin typeface="Segoe UI"/>
                <a:ea typeface="Segoe UI"/>
                <a:cs typeface="Segoe UI"/>
                <a:sym typeface="Segoe UI"/>
              </a:rPr>
              <a:t>Cosmos DB integration is not automatic for every hosting option.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19" name="AutoShape 19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18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Recovery invariants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2143125"/>
            <a:ext cx="10096500" cy="685800"/>
            <a:chOff x="0" y="0"/>
            <a:chExt cx="13462000" cy="9144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176389" y="0"/>
                    </a:moveTo>
                    <a:lnTo>
                      <a:pt x="738011" y="0"/>
                    </a:lnTo>
                    <a:cubicBezTo>
                      <a:pt x="835428" y="0"/>
                      <a:pt x="914400" y="78972"/>
                      <a:pt x="914400" y="176389"/>
                    </a:cubicBezTo>
                    <a:lnTo>
                      <a:pt x="914400" y="738011"/>
                    </a:lnTo>
                    <a:cubicBezTo>
                      <a:pt x="914400" y="835428"/>
                      <a:pt x="835428" y="914400"/>
                      <a:pt x="738011" y="914400"/>
                    </a:cubicBezTo>
                    <a:lnTo>
                      <a:pt x="176389" y="914400"/>
                    </a:lnTo>
                    <a:cubicBezTo>
                      <a:pt x="78972" y="914400"/>
                      <a:pt x="0" y="835428"/>
                      <a:pt x="0" y="738011"/>
                    </a:cubicBezTo>
                    <a:lnTo>
                      <a:pt x="0" y="176389"/>
                    </a:lnTo>
                    <a:cubicBezTo>
                      <a:pt x="0" y="78972"/>
                      <a:pt x="78972" y="0"/>
                      <a:pt x="176389" y="0"/>
                    </a:cubicBez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9525"/>
                <a:ext cx="914400" cy="904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rPr>
                  <a:t>1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397000" y="206375"/>
              <a:ext cx="12065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Stable executor IDs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3000" y="3238500"/>
            <a:ext cx="10096500" cy="685800"/>
            <a:chOff x="0" y="0"/>
            <a:chExt cx="13462000" cy="9144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176389" y="0"/>
                    </a:moveTo>
                    <a:lnTo>
                      <a:pt x="738011" y="0"/>
                    </a:lnTo>
                    <a:cubicBezTo>
                      <a:pt x="835428" y="0"/>
                      <a:pt x="914400" y="78972"/>
                      <a:pt x="914400" y="176389"/>
                    </a:cubicBezTo>
                    <a:lnTo>
                      <a:pt x="914400" y="738011"/>
                    </a:lnTo>
                    <a:cubicBezTo>
                      <a:pt x="914400" y="835428"/>
                      <a:pt x="835428" y="914400"/>
                      <a:pt x="738011" y="914400"/>
                    </a:cubicBezTo>
                    <a:lnTo>
                      <a:pt x="176389" y="914400"/>
                    </a:lnTo>
                    <a:cubicBezTo>
                      <a:pt x="78972" y="914400"/>
                      <a:pt x="0" y="835428"/>
                      <a:pt x="0" y="738011"/>
                    </a:cubicBezTo>
                    <a:lnTo>
                      <a:pt x="0" y="176389"/>
                    </a:lnTo>
                    <a:cubicBezTo>
                      <a:pt x="0" y="78972"/>
                      <a:pt x="78972" y="0"/>
                      <a:pt x="176389" y="0"/>
                    </a:cubicBez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9525"/>
                <a:ext cx="914400" cy="904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rPr>
                  <a:t>2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397000" y="206375"/>
              <a:ext cx="12065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Compatible state schema versions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4333875"/>
            <a:ext cx="10096500" cy="685800"/>
            <a:chOff x="0" y="0"/>
            <a:chExt cx="13462000" cy="9144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176389" y="0"/>
                    </a:moveTo>
                    <a:lnTo>
                      <a:pt x="738011" y="0"/>
                    </a:lnTo>
                    <a:cubicBezTo>
                      <a:pt x="835428" y="0"/>
                      <a:pt x="914400" y="78972"/>
                      <a:pt x="914400" y="176389"/>
                    </a:cubicBezTo>
                    <a:lnTo>
                      <a:pt x="914400" y="738011"/>
                    </a:lnTo>
                    <a:cubicBezTo>
                      <a:pt x="914400" y="835428"/>
                      <a:pt x="835428" y="914400"/>
                      <a:pt x="738011" y="914400"/>
                    </a:cubicBezTo>
                    <a:lnTo>
                      <a:pt x="176389" y="914400"/>
                    </a:lnTo>
                    <a:cubicBezTo>
                      <a:pt x="78972" y="914400"/>
                      <a:pt x="0" y="835428"/>
                      <a:pt x="0" y="738011"/>
                    </a:cubicBezTo>
                    <a:lnTo>
                      <a:pt x="0" y="176389"/>
                    </a:lnTo>
                    <a:cubicBezTo>
                      <a:pt x="0" y="78972"/>
                      <a:pt x="78972" y="0"/>
                      <a:pt x="176389" y="0"/>
                    </a:cubicBez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9525"/>
                <a:ext cx="914400" cy="904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rPr>
                  <a:t>3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397000" y="206375"/>
              <a:ext cx="12065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Approval binding integrity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5429250"/>
            <a:ext cx="10096500" cy="685800"/>
            <a:chOff x="0" y="0"/>
            <a:chExt cx="13462000" cy="9144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176389" y="0"/>
                    </a:moveTo>
                    <a:lnTo>
                      <a:pt x="738011" y="0"/>
                    </a:lnTo>
                    <a:cubicBezTo>
                      <a:pt x="835428" y="0"/>
                      <a:pt x="914400" y="78972"/>
                      <a:pt x="914400" y="176389"/>
                    </a:cubicBezTo>
                    <a:lnTo>
                      <a:pt x="914400" y="738011"/>
                    </a:lnTo>
                    <a:cubicBezTo>
                      <a:pt x="914400" y="835428"/>
                      <a:pt x="835428" y="914400"/>
                      <a:pt x="738011" y="914400"/>
                    </a:cubicBezTo>
                    <a:lnTo>
                      <a:pt x="176389" y="914400"/>
                    </a:lnTo>
                    <a:cubicBezTo>
                      <a:pt x="78972" y="914400"/>
                      <a:pt x="0" y="835428"/>
                      <a:pt x="0" y="738011"/>
                    </a:cubicBezTo>
                    <a:lnTo>
                      <a:pt x="0" y="176389"/>
                    </a:lnTo>
                    <a:cubicBezTo>
                      <a:pt x="0" y="78972"/>
                      <a:pt x="78972" y="0"/>
                      <a:pt x="176389" y="0"/>
                    </a:cubicBez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9525"/>
                <a:ext cx="914400" cy="904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rPr>
                  <a:t>4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397000" y="206375"/>
              <a:ext cx="12065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Retries with bounded behavior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43000" y="6524625"/>
            <a:ext cx="10096500" cy="685800"/>
            <a:chOff x="0" y="0"/>
            <a:chExt cx="13462000" cy="9144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176389" y="0"/>
                    </a:moveTo>
                    <a:lnTo>
                      <a:pt x="738011" y="0"/>
                    </a:lnTo>
                    <a:cubicBezTo>
                      <a:pt x="835428" y="0"/>
                      <a:pt x="914400" y="78972"/>
                      <a:pt x="914400" y="176389"/>
                    </a:cubicBezTo>
                    <a:lnTo>
                      <a:pt x="914400" y="738011"/>
                    </a:lnTo>
                    <a:cubicBezTo>
                      <a:pt x="914400" y="835428"/>
                      <a:pt x="835428" y="914400"/>
                      <a:pt x="738011" y="914400"/>
                    </a:cubicBezTo>
                    <a:lnTo>
                      <a:pt x="176389" y="914400"/>
                    </a:lnTo>
                    <a:cubicBezTo>
                      <a:pt x="78972" y="914400"/>
                      <a:pt x="0" y="835428"/>
                      <a:pt x="0" y="738011"/>
                    </a:cubicBezTo>
                    <a:lnTo>
                      <a:pt x="0" y="176389"/>
                    </a:lnTo>
                    <a:cubicBezTo>
                      <a:pt x="0" y="78972"/>
                      <a:pt x="78972" y="0"/>
                      <a:pt x="176389" y="0"/>
                    </a:cubicBezTo>
                    <a:close/>
                  </a:path>
                </a:pathLst>
              </a:custGeom>
              <a:solidFill>
                <a:srgbClr val="2A446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9525"/>
                <a:ext cx="914400" cy="904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rPr>
                  <a:t>5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397000" y="206375"/>
              <a:ext cx="12065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Side-effect reconciliation mechanisms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334750" y="3048000"/>
            <a:ext cx="6191250" cy="2381250"/>
            <a:chOff x="0" y="0"/>
            <a:chExt cx="8255000" cy="3175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55000" cy="3175000"/>
            </a:xfrm>
            <a:custGeom>
              <a:avLst/>
              <a:gdLst/>
              <a:ahLst/>
              <a:cxnLst/>
              <a:rect l="l" t="t" r="r" b="b"/>
              <a:pathLst>
                <a:path w="8255000" h="3175000">
                  <a:moveTo>
                    <a:pt x="0" y="0"/>
                  </a:moveTo>
                  <a:lnTo>
                    <a:pt x="8255000" y="0"/>
                  </a:lnTo>
                  <a:lnTo>
                    <a:pt x="8255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E7E2F6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82550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811000" y="3676650"/>
            <a:ext cx="5334000" cy="29908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6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node_ids.py: fixed executor ids, so every build has the same graph signature</a:t>
            </a:r>
          </a:p>
          <a:p>
            <a:pPr algn="ctr"/>
            <a:r>
              <a:rPr sz="1600">
                <a:solidFill>
                  <a:srgbClr val="17253D"/>
                </a:solidFill>
                <a:latin typeface="Segoe UI"/>
              </a:rPr>
              <a:t>CosmosCheckpointStorage: container workflow-checkpoints, key /workflow_name</a:t>
            </a:r>
          </a:p>
          <a:p>
            <a:pPr algn="ctr"/>
            <a:r>
              <a:rPr sz="1600">
                <a:solidFill>
                  <a:srgbClr val="17253D"/>
                </a:solidFill>
                <a:latin typeface="Segoe UI"/>
              </a:rPr>
              <a:t>new_workflow(mode): a fresh instance per run, restorable from any checkpoint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36" name="AutoShape 36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19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00075"/>
            <a:ext cx="14382750" cy="56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Demo recovery and further reading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6300" y="1381125"/>
            <a:ext cx="819150" cy="57150"/>
            <a:chOff x="0" y="0"/>
            <a:chExt cx="1092200" cy="76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0" y="0"/>
                  </a:moveTo>
                  <a:lnTo>
                    <a:pt x="1092200" y="0"/>
                  </a:lnTo>
                  <a:lnTo>
                    <a:pt x="1092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922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6300" y="2095500"/>
            <a:ext cx="3810000" cy="1428750"/>
            <a:chOff x="0" y="0"/>
            <a:chExt cx="5080000" cy="190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80000" cy="1905000"/>
            </a:xfrm>
            <a:custGeom>
              <a:avLst/>
              <a:gdLst/>
              <a:ahLst/>
              <a:cxnLst/>
              <a:rect l="l" t="t" r="r" b="b"/>
              <a:pathLst>
                <a:path w="5080000" h="1905000">
                  <a:moveTo>
                    <a:pt x="31750" y="0"/>
                  </a:moveTo>
                  <a:lnTo>
                    <a:pt x="5048250" y="0"/>
                  </a:lnTo>
                  <a:cubicBezTo>
                    <a:pt x="5065785" y="0"/>
                    <a:pt x="5080000" y="14215"/>
                    <a:pt x="5080000" y="31750"/>
                  </a:cubicBezTo>
                  <a:lnTo>
                    <a:pt x="5080000" y="1873250"/>
                  </a:lnTo>
                  <a:cubicBezTo>
                    <a:pt x="5080000" y="1890785"/>
                    <a:pt x="5065785" y="1905000"/>
                    <a:pt x="5048250" y="1905000"/>
                  </a:cubicBezTo>
                  <a:lnTo>
                    <a:pt x="31750" y="1905000"/>
                  </a:lnTo>
                  <a:cubicBezTo>
                    <a:pt x="14215" y="1905000"/>
                    <a:pt x="0" y="1890785"/>
                    <a:pt x="0" y="1873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0078D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5080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Rendered workflow graph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67300" y="2095500"/>
            <a:ext cx="3810000" cy="1428750"/>
            <a:chOff x="0" y="0"/>
            <a:chExt cx="5080000" cy="190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0000" cy="1905000"/>
            </a:xfrm>
            <a:custGeom>
              <a:avLst/>
              <a:gdLst/>
              <a:ahLst/>
              <a:cxnLst/>
              <a:rect l="l" t="t" r="r" b="b"/>
              <a:pathLst>
                <a:path w="5080000" h="1905000">
                  <a:moveTo>
                    <a:pt x="31750" y="0"/>
                  </a:moveTo>
                  <a:lnTo>
                    <a:pt x="5048250" y="0"/>
                  </a:lnTo>
                  <a:cubicBezTo>
                    <a:pt x="5065785" y="0"/>
                    <a:pt x="5080000" y="14215"/>
                    <a:pt x="5080000" y="31750"/>
                  </a:cubicBezTo>
                  <a:lnTo>
                    <a:pt x="5080000" y="1873250"/>
                  </a:lnTo>
                  <a:cubicBezTo>
                    <a:pt x="5080000" y="1890785"/>
                    <a:pt x="5065785" y="1905000"/>
                    <a:pt x="5048250" y="1905000"/>
                  </a:cubicBezTo>
                  <a:lnTo>
                    <a:pt x="31750" y="1905000"/>
                  </a:lnTo>
                  <a:cubicBezTo>
                    <a:pt x="14215" y="1905000"/>
                    <a:pt x="0" y="1890785"/>
                    <a:pt x="0" y="1873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E7E2F6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5080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Saved checkpoint document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58300" y="2095500"/>
            <a:ext cx="3810000" cy="1428750"/>
            <a:chOff x="0" y="0"/>
            <a:chExt cx="50800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00" cy="1905000"/>
            </a:xfrm>
            <a:custGeom>
              <a:avLst/>
              <a:gdLst/>
              <a:ahLst/>
              <a:cxnLst/>
              <a:rect l="l" t="t" r="r" b="b"/>
              <a:pathLst>
                <a:path w="5080000" h="1905000">
                  <a:moveTo>
                    <a:pt x="31750" y="0"/>
                  </a:moveTo>
                  <a:lnTo>
                    <a:pt x="5048250" y="0"/>
                  </a:lnTo>
                  <a:cubicBezTo>
                    <a:pt x="5065785" y="0"/>
                    <a:pt x="5080000" y="14215"/>
                    <a:pt x="5080000" y="31750"/>
                  </a:cubicBezTo>
                  <a:lnTo>
                    <a:pt x="5080000" y="1873250"/>
                  </a:lnTo>
                  <a:cubicBezTo>
                    <a:pt x="5080000" y="1890785"/>
                    <a:pt x="5065785" y="1905000"/>
                    <a:pt x="5048250" y="1905000"/>
                  </a:cubicBezTo>
                  <a:lnTo>
                    <a:pt x="31750" y="1905000"/>
                  </a:lnTo>
                  <a:cubicBezTo>
                    <a:pt x="14215" y="1905000"/>
                    <a:pt x="0" y="1890785"/>
                    <a:pt x="0" y="1873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E7E2F6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5080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Recovery recording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449300" y="2095500"/>
            <a:ext cx="3810000" cy="1428750"/>
            <a:chOff x="0" y="0"/>
            <a:chExt cx="5080000" cy="1905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080000" cy="1905000"/>
            </a:xfrm>
            <a:custGeom>
              <a:avLst/>
              <a:gdLst/>
              <a:ahLst/>
              <a:cxnLst/>
              <a:rect l="l" t="t" r="r" b="b"/>
              <a:pathLst>
                <a:path w="5080000" h="1905000">
                  <a:moveTo>
                    <a:pt x="31750" y="0"/>
                  </a:moveTo>
                  <a:lnTo>
                    <a:pt x="5048250" y="0"/>
                  </a:lnTo>
                  <a:cubicBezTo>
                    <a:pt x="5065785" y="0"/>
                    <a:pt x="5080000" y="14215"/>
                    <a:pt x="5080000" y="31750"/>
                  </a:cubicBezTo>
                  <a:lnTo>
                    <a:pt x="5080000" y="1873250"/>
                  </a:lnTo>
                  <a:cubicBezTo>
                    <a:pt x="5080000" y="1890785"/>
                    <a:pt x="5065785" y="1905000"/>
                    <a:pt x="5048250" y="1905000"/>
                  </a:cubicBezTo>
                  <a:lnTo>
                    <a:pt x="31750" y="1905000"/>
                  </a:lnTo>
                  <a:cubicBezTo>
                    <a:pt x="14215" y="1905000"/>
                    <a:pt x="0" y="1890785"/>
                    <a:pt x="0" y="1873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E7E2F6"/>
            </a:solidFill>
            <a:ln w="19050" cap="sq">
              <a:solidFill>
                <a:srgbClr val="2A44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5080000" cy="189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Approval screenshot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76300" y="4248150"/>
            <a:ext cx="6667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78D4"/>
                </a:solidFill>
                <a:latin typeface="Segoe UI"/>
                <a:ea typeface="Segoe UI"/>
                <a:cs typeface="Segoe UI"/>
                <a:sym typeface="Segoe UI"/>
              </a:rPr>
              <a:t>Recorded outputs: docs/assets/fallbacks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6300" y="4991100"/>
            <a:ext cx="14287500" cy="170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Agent Framework workflows  https://learn.microsoft.com/en-us/agent-framework/workflows/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Agent Framework overview  https://learn.microsoft.com/en-us/agent-framework/overview/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Source + samples  https://github.com/microsoft/agent-framework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ATLAS code and runbooks  published after the series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7253D"/>
                </a:solidFill>
                <a:latin typeface="Segoe UI"/>
                <a:ea typeface="Segoe UI"/>
                <a:cs typeface="Segoe UI"/>
                <a:sym typeface="Segoe UI"/>
              </a:rPr>
              <a:t>Next: Episode 3 - Agents That Take Action, Tuesday 13 October, 18:00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76300" y="9405938"/>
            <a:ext cx="16535400" cy="513397"/>
            <a:chOff x="0" y="0"/>
            <a:chExt cx="22047200" cy="684530"/>
          </a:xfrm>
        </p:grpSpPr>
        <p:sp>
          <p:nvSpPr>
            <p:cNvPr id="21" name="AutoShape 21"/>
            <p:cNvSpPr/>
            <p:nvPr/>
          </p:nvSpPr>
          <p:spPr>
            <a:xfrm>
              <a:off x="0" y="6350"/>
              <a:ext cx="22047200" cy="0"/>
            </a:xfrm>
            <a:prstGeom prst="line">
              <a:avLst/>
            </a:prstGeom>
            <a:ln w="12700" cap="flat">
              <a:solidFill>
                <a:srgbClr val="E7E2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483600" y="184150"/>
              <a:ext cx="2286000" cy="76200"/>
              <a:chOff x="0" y="0"/>
              <a:chExt cx="2286000" cy="76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8483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Foundations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1150600" y="184150"/>
              <a:ext cx="2286000" cy="76200"/>
              <a:chOff x="0" y="0"/>
              <a:chExt cx="2286000" cy="762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78D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1150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0078D4"/>
                  </a:solidFill>
                  <a:latin typeface="Segoe UI"/>
                  <a:ea typeface="Segoe UI"/>
                  <a:cs typeface="Segoe UI"/>
                  <a:sym typeface="Segoe UI"/>
                </a:rPr>
                <a:t>Workflows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3817600" y="184150"/>
              <a:ext cx="2286000" cy="76200"/>
              <a:chOff x="0" y="0"/>
              <a:chExt cx="2286000" cy="76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3817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Integration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6484600" y="184150"/>
              <a:ext cx="2286000" cy="76200"/>
              <a:chOff x="0" y="0"/>
              <a:chExt cx="2286000" cy="76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2286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76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E7E2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228600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6484600" y="393700"/>
              <a:ext cx="2286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737373"/>
                  </a:solidFill>
                  <a:latin typeface="Segoe UI"/>
                  <a:ea typeface="Segoe UI"/>
                  <a:cs typeface="Segoe UI"/>
                  <a:sym typeface="Segoe UI"/>
                </a:rPr>
                <a:t>Operations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257175"/>
              <a:ext cx="457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From Prompt to Production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00600" y="257175"/>
              <a:ext cx="2794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Episode 2 of 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929600" y="222250"/>
              <a:ext cx="11176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>
                  <a:solidFill>
                    <a:srgbClr val="17253D"/>
                  </a:solidFill>
                  <a:latin typeface="Segoe UI"/>
                  <a:ea typeface="Segoe UI"/>
                  <a:cs typeface="Segoe UI"/>
                  <a:sym typeface="Segoe UI"/>
                </a:rPr>
                <a:t>20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16530563" y="216326"/>
            <a:ext cx="1419373" cy="1286419"/>
          </a:xfrm>
          <a:custGeom>
            <a:avLst/>
            <a:gdLst/>
            <a:ahLst/>
            <a:cxnLst/>
            <a:rect l="l" t="t" r="r" b="b"/>
            <a:pathLst>
              <a:path w="1419373" h="1286419">
                <a:moveTo>
                  <a:pt x="0" y="0"/>
                </a:moveTo>
                <a:lnTo>
                  <a:pt x="1419374" y="0"/>
                </a:lnTo>
                <a:lnTo>
                  <a:pt x="1419374" y="1286420"/>
                </a:lnTo>
                <a:lnTo>
                  <a:pt x="0" y="128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1582</Words>
  <Application>Microsoft Office PowerPoint</Application>
  <PresentationFormat>Custom</PresentationFormat>
  <Paragraphs>394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Segoe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Workflow and Approval</dc:title>
  <dc:creator>kpassadis</dc:creator>
  <cp:lastModifiedBy>Konstantinos Passadis</cp:lastModifiedBy>
  <cp:revision>3</cp:revision>
  <dcterms:created xsi:type="dcterms:W3CDTF">2006-08-16T00:00:00Z</dcterms:created>
  <dcterms:modified xsi:type="dcterms:W3CDTF">2026-10-07T19:10:54Z</dcterms:modified>
  <dc:identifier>DAHWnFr0n4Q</dc:identifier>
</cp:coreProperties>
</file>