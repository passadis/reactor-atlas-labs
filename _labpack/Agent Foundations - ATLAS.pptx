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3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Segoe UI" panose="020B0502040204020203" pitchFamily="34" charset="0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7" d="100"/>
          <a:sy n="77" d="100"/>
        </p:scale>
        <p:origin x="70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E172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715750" y="0"/>
            <a:ext cx="6572250" cy="10287000"/>
            <a:chOff x="0" y="0"/>
            <a:chExt cx="87630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763000" cy="13716000"/>
            </a:xfrm>
            <a:custGeom>
              <a:avLst/>
              <a:gdLst/>
              <a:ahLst/>
              <a:cxnLst/>
              <a:rect l="l" t="t" r="r" b="b"/>
              <a:pathLst>
                <a:path w="8763000" h="13716000">
                  <a:moveTo>
                    <a:pt x="0" y="0"/>
                  </a:moveTo>
                  <a:lnTo>
                    <a:pt x="8763000" y="0"/>
                  </a:lnTo>
                  <a:lnTo>
                    <a:pt x="8763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8763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14400" y="1962150"/>
            <a:ext cx="9525000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spc="132">
                <a:solidFill>
                  <a:srgbClr val="00A4EF"/>
                </a:solidFill>
                <a:latin typeface="Segoe UI"/>
                <a:ea typeface="Segoe UI"/>
                <a:cs typeface="Segoe UI"/>
                <a:sym typeface="Segoe UI"/>
              </a:rPr>
              <a:t>EPISODE 1 OF 4  ·  AGENT FOUNDATIONS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2600325"/>
            <a:ext cx="10001250" cy="1413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8"/>
              </a:lnSpc>
            </a:pPr>
            <a:r>
              <a:rPr lang="en-US" sz="5325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Beyond Chatbots:</a:t>
            </a:r>
          </a:p>
          <a:p>
            <a:pPr algn="l">
              <a:lnSpc>
                <a:spcPts val="5538"/>
              </a:lnSpc>
            </a:pPr>
            <a:r>
              <a:rPr lang="en-US" sz="5325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Build Your First Production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4876800"/>
            <a:ext cx="9144000" cy="548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9"/>
              </a:lnSpc>
            </a:pPr>
            <a:r>
              <a:rPr lang="en-US" sz="3150">
                <a:solidFill>
                  <a:srgbClr val="00A4EF"/>
                </a:solidFill>
                <a:latin typeface="Segoe UI"/>
                <a:ea typeface="Segoe UI"/>
                <a:cs typeface="Segoe UI"/>
                <a:sym typeface="Segoe UI"/>
              </a:rPr>
              <a:t>with Microsoft Foundry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4400" y="6419850"/>
            <a:ext cx="647700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225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Konstantinos Passadis</a:t>
            </a:r>
          </a:p>
          <a:p>
            <a:pPr algn="l">
              <a:lnSpc>
                <a:spcPts val="2925"/>
              </a:lnSpc>
            </a:pPr>
            <a:r>
              <a:rPr lang="en-US" sz="225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Microsoft Azure MVP and MCT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2192000" y="2190750"/>
            <a:ext cx="4953000" cy="1428750"/>
            <a:chOff x="0" y="0"/>
            <a:chExt cx="6604000" cy="1905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604000" cy="1905000"/>
            </a:xfrm>
            <a:custGeom>
              <a:avLst/>
              <a:gdLst/>
              <a:ahLst/>
              <a:cxnLst/>
              <a:rect l="l" t="t" r="r" b="b"/>
              <a:pathLst>
                <a:path w="6604000" h="1905000">
                  <a:moveTo>
                    <a:pt x="24423" y="0"/>
                  </a:moveTo>
                  <a:lnTo>
                    <a:pt x="6579577" y="0"/>
                  </a:lnTo>
                  <a:cubicBezTo>
                    <a:pt x="6586055" y="0"/>
                    <a:pt x="6592267" y="2573"/>
                    <a:pt x="6596847" y="7153"/>
                  </a:cubicBezTo>
                  <a:cubicBezTo>
                    <a:pt x="6601427" y="11734"/>
                    <a:pt x="6604000" y="17946"/>
                    <a:pt x="6604000" y="24423"/>
                  </a:cubicBezTo>
                  <a:lnTo>
                    <a:pt x="6604000" y="1880577"/>
                  </a:lnTo>
                  <a:cubicBezTo>
                    <a:pt x="6604000" y="1887054"/>
                    <a:pt x="6601427" y="1893266"/>
                    <a:pt x="6596847" y="1897847"/>
                  </a:cubicBezTo>
                  <a:cubicBezTo>
                    <a:pt x="6592267" y="1902427"/>
                    <a:pt x="6586055" y="1905000"/>
                    <a:pt x="6579577" y="1905000"/>
                  </a:cubicBezTo>
                  <a:lnTo>
                    <a:pt x="24423" y="1905000"/>
                  </a:lnTo>
                  <a:cubicBezTo>
                    <a:pt x="17946" y="1905000"/>
                    <a:pt x="11734" y="1902427"/>
                    <a:pt x="7153" y="1897847"/>
                  </a:cubicBezTo>
                  <a:cubicBezTo>
                    <a:pt x="2573" y="1893266"/>
                    <a:pt x="0" y="1887054"/>
                    <a:pt x="0" y="1880577"/>
                  </a:cubicBezTo>
                  <a:lnTo>
                    <a:pt x="0" y="24423"/>
                  </a:lnTo>
                  <a:cubicBezTo>
                    <a:pt x="0" y="17946"/>
                    <a:pt x="2573" y="11734"/>
                    <a:pt x="7153" y="7153"/>
                  </a:cubicBezTo>
                  <a:cubicBezTo>
                    <a:pt x="11734" y="2573"/>
                    <a:pt x="17946" y="0"/>
                    <a:pt x="24423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525"/>
              <a:ext cx="6604000" cy="1895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INCIDENT REPORT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EU checkout timeouts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14668500" y="3619500"/>
            <a:ext cx="0" cy="76200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2954000" y="4381500"/>
            <a:ext cx="3429000" cy="1047750"/>
            <a:chOff x="0" y="0"/>
            <a:chExt cx="4572000" cy="1397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572000" cy="1397000"/>
            </a:xfrm>
            <a:custGeom>
              <a:avLst/>
              <a:gdLst/>
              <a:ahLst/>
              <a:cxnLst/>
              <a:rect l="l" t="t" r="r" b="b"/>
              <a:pathLst>
                <a:path w="4572000" h="1397000">
                  <a:moveTo>
                    <a:pt x="35278" y="0"/>
                  </a:moveTo>
                  <a:lnTo>
                    <a:pt x="4536722" y="0"/>
                  </a:lnTo>
                  <a:cubicBezTo>
                    <a:pt x="4556206" y="0"/>
                    <a:pt x="4572000" y="15794"/>
                    <a:pt x="4572000" y="35278"/>
                  </a:cubicBezTo>
                  <a:lnTo>
                    <a:pt x="4572000" y="1361722"/>
                  </a:lnTo>
                  <a:cubicBezTo>
                    <a:pt x="4572000" y="1381206"/>
                    <a:pt x="4556206" y="1397000"/>
                    <a:pt x="4536722" y="1397000"/>
                  </a:cubicBezTo>
                  <a:lnTo>
                    <a:pt x="35278" y="1397000"/>
                  </a:lnTo>
                  <a:cubicBezTo>
                    <a:pt x="15794" y="1397000"/>
                    <a:pt x="0" y="1381206"/>
                    <a:pt x="0" y="1361722"/>
                  </a:cubicBezTo>
                  <a:lnTo>
                    <a:pt x="0" y="35278"/>
                  </a:lnTo>
                  <a:cubicBezTo>
                    <a:pt x="0" y="15794"/>
                    <a:pt x="15794" y="0"/>
                    <a:pt x="35278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9525"/>
              <a:ext cx="4572000" cy="1387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AGENT REASONING</a:t>
              </a:r>
            </a:p>
          </p:txBody>
        </p:sp>
      </p:grpSp>
      <p:sp>
        <p:nvSpPr>
          <p:cNvPr id="20" name="AutoShape 20"/>
          <p:cNvSpPr/>
          <p:nvPr/>
        </p:nvSpPr>
        <p:spPr>
          <a:xfrm>
            <a:off x="14668500" y="5429250"/>
            <a:ext cx="0" cy="76200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>
            <a:off x="12192000" y="6191250"/>
            <a:ext cx="4953000" cy="1524000"/>
            <a:chOff x="0" y="0"/>
            <a:chExt cx="6604000" cy="2032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604000" cy="2032000"/>
            </a:xfrm>
            <a:custGeom>
              <a:avLst/>
              <a:gdLst/>
              <a:ahLst/>
              <a:cxnLst/>
              <a:rect l="l" t="t" r="r" b="b"/>
              <a:pathLst>
                <a:path w="6604000" h="2032000">
                  <a:moveTo>
                    <a:pt x="24423" y="0"/>
                  </a:moveTo>
                  <a:lnTo>
                    <a:pt x="6579577" y="0"/>
                  </a:lnTo>
                  <a:cubicBezTo>
                    <a:pt x="6586055" y="0"/>
                    <a:pt x="6592267" y="2573"/>
                    <a:pt x="6596847" y="7153"/>
                  </a:cubicBezTo>
                  <a:cubicBezTo>
                    <a:pt x="6601427" y="11734"/>
                    <a:pt x="6604000" y="17946"/>
                    <a:pt x="6604000" y="24423"/>
                  </a:cubicBezTo>
                  <a:lnTo>
                    <a:pt x="6604000" y="2007577"/>
                  </a:lnTo>
                  <a:cubicBezTo>
                    <a:pt x="6604000" y="2014054"/>
                    <a:pt x="6601427" y="2020266"/>
                    <a:pt x="6596847" y="2024847"/>
                  </a:cubicBezTo>
                  <a:cubicBezTo>
                    <a:pt x="6592267" y="2029427"/>
                    <a:pt x="6586055" y="2032000"/>
                    <a:pt x="6579577" y="2032000"/>
                  </a:cubicBezTo>
                  <a:lnTo>
                    <a:pt x="24423" y="2032000"/>
                  </a:lnTo>
                  <a:cubicBezTo>
                    <a:pt x="17946" y="2032000"/>
                    <a:pt x="11734" y="2029427"/>
                    <a:pt x="7153" y="2024847"/>
                  </a:cubicBezTo>
                  <a:cubicBezTo>
                    <a:pt x="2573" y="2020266"/>
                    <a:pt x="0" y="2014054"/>
                    <a:pt x="0" y="2007577"/>
                  </a:cubicBezTo>
                  <a:lnTo>
                    <a:pt x="0" y="24423"/>
                  </a:lnTo>
                  <a:cubicBezTo>
                    <a:pt x="0" y="17946"/>
                    <a:pt x="2573" y="11734"/>
                    <a:pt x="7153" y="7153"/>
                  </a:cubicBezTo>
                  <a:cubicBezTo>
                    <a:pt x="11734" y="2573"/>
                    <a:pt x="17946" y="0"/>
                    <a:pt x="24423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9525"/>
              <a:ext cx="6604000" cy="202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TYPED RESULT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severity · evidence · confidence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5" name="TextBox 25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01/21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0" name="Picture 39" descr="Reactor&#10;&#10;AI-generated content may be incorrect.">
            <a:extLst>
              <a:ext uri="{FF2B5EF4-FFF2-40B4-BE49-F238E27FC236}">
                <a16:creationId xmlns:a16="http://schemas.microsoft.com/office/drawing/2014/main" id="{B7A32720-9ABE-4235-0EAC-861AAAD789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One incident connects all four episodes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sp>
        <p:nvSpPr>
          <p:cNvPr id="8" name="TextBox 8"/>
          <p:cNvSpPr txBox="1"/>
          <p:nvPr/>
        </p:nvSpPr>
        <p:spPr>
          <a:xfrm>
            <a:off x="1524000" y="2371725"/>
            <a:ext cx="15240000" cy="3843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93"/>
              </a:lnSpc>
            </a:pPr>
            <a:r>
              <a:rPr lang="en-US" sz="247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“Checkout is timing out for about 20% of EU customers since 14:05, started right after the payments deploy.”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57500" y="3981450"/>
            <a:ext cx="1257300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25"/>
              </a:lnSpc>
            </a:pPr>
            <a:r>
              <a:rPr lang="en-US" sz="2250">
                <a:solidFill>
                  <a:srgbClr val="2A446F"/>
                </a:solidFill>
                <a:latin typeface="Segoe UI"/>
                <a:ea typeface="Segoe UI"/>
                <a:cs typeface="Segoe UI"/>
                <a:sym typeface="Segoe UI"/>
              </a:rPr>
              <a:t>Today prepares reliable triage. Later episodes add control, approval, and evidence.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143000" y="5810250"/>
            <a:ext cx="3238500" cy="1428750"/>
            <a:chOff x="0" y="0"/>
            <a:chExt cx="4318000" cy="1905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18000" cy="1905000"/>
            </a:xfrm>
            <a:custGeom>
              <a:avLst/>
              <a:gdLst/>
              <a:ahLst/>
              <a:cxnLst/>
              <a:rect l="l" t="t" r="r" b="b"/>
              <a:pathLst>
                <a:path w="4318000" h="1905000">
                  <a:moveTo>
                    <a:pt x="37353" y="0"/>
                  </a:moveTo>
                  <a:lnTo>
                    <a:pt x="4280647" y="0"/>
                  </a:lnTo>
                  <a:cubicBezTo>
                    <a:pt x="4290554" y="0"/>
                    <a:pt x="4300055" y="3935"/>
                    <a:pt x="4307060" y="10940"/>
                  </a:cubicBezTo>
                  <a:cubicBezTo>
                    <a:pt x="4314065" y="17945"/>
                    <a:pt x="4318000" y="27446"/>
                    <a:pt x="4318000" y="37353"/>
                  </a:cubicBezTo>
                  <a:lnTo>
                    <a:pt x="4318000" y="1867647"/>
                  </a:lnTo>
                  <a:cubicBezTo>
                    <a:pt x="4318000" y="1877554"/>
                    <a:pt x="4314065" y="1887055"/>
                    <a:pt x="4307060" y="1894060"/>
                  </a:cubicBezTo>
                  <a:cubicBezTo>
                    <a:pt x="4300055" y="1901065"/>
                    <a:pt x="4290554" y="1905000"/>
                    <a:pt x="4280647" y="1905000"/>
                  </a:cubicBezTo>
                  <a:lnTo>
                    <a:pt x="37353" y="1905000"/>
                  </a:lnTo>
                  <a:cubicBezTo>
                    <a:pt x="27446" y="1905000"/>
                    <a:pt x="17945" y="1901065"/>
                    <a:pt x="10940" y="1894060"/>
                  </a:cubicBezTo>
                  <a:cubicBezTo>
                    <a:pt x="3935" y="1887055"/>
                    <a:pt x="0" y="1877554"/>
                    <a:pt x="0" y="1867647"/>
                  </a:cubicBezTo>
                  <a:lnTo>
                    <a:pt x="0" y="37353"/>
                  </a:lnTo>
                  <a:cubicBezTo>
                    <a:pt x="0" y="27446"/>
                    <a:pt x="3935" y="17945"/>
                    <a:pt x="10940" y="10940"/>
                  </a:cubicBezTo>
                  <a:cubicBezTo>
                    <a:pt x="17945" y="3935"/>
                    <a:pt x="27446" y="0"/>
                    <a:pt x="37353" y="0"/>
                  </a:cubicBezTo>
                  <a:close/>
                </a:path>
              </a:pathLst>
            </a:custGeom>
            <a:solidFill>
              <a:srgbClr val="0078D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9525"/>
              <a:ext cx="4318000" cy="1895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TRIAGE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Foundations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>
            <a:off x="4381500" y="6524625"/>
            <a:ext cx="95250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4" name="Group 14"/>
          <p:cNvGrpSpPr/>
          <p:nvPr/>
        </p:nvGrpSpPr>
        <p:grpSpPr>
          <a:xfrm>
            <a:off x="5429250" y="5810250"/>
            <a:ext cx="3238500" cy="1428750"/>
            <a:chOff x="0" y="0"/>
            <a:chExt cx="4318000" cy="1905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318000" cy="1905000"/>
            </a:xfrm>
            <a:custGeom>
              <a:avLst/>
              <a:gdLst/>
              <a:ahLst/>
              <a:cxnLst/>
              <a:rect l="l" t="t" r="r" b="b"/>
              <a:pathLst>
                <a:path w="4318000" h="1905000">
                  <a:moveTo>
                    <a:pt x="37353" y="0"/>
                  </a:moveTo>
                  <a:lnTo>
                    <a:pt x="4280647" y="0"/>
                  </a:lnTo>
                  <a:cubicBezTo>
                    <a:pt x="4290554" y="0"/>
                    <a:pt x="4300055" y="3935"/>
                    <a:pt x="4307060" y="10940"/>
                  </a:cubicBezTo>
                  <a:cubicBezTo>
                    <a:pt x="4314065" y="17945"/>
                    <a:pt x="4318000" y="27446"/>
                    <a:pt x="4318000" y="37353"/>
                  </a:cubicBezTo>
                  <a:lnTo>
                    <a:pt x="4318000" y="1867647"/>
                  </a:lnTo>
                  <a:cubicBezTo>
                    <a:pt x="4318000" y="1877554"/>
                    <a:pt x="4314065" y="1887055"/>
                    <a:pt x="4307060" y="1894060"/>
                  </a:cubicBezTo>
                  <a:cubicBezTo>
                    <a:pt x="4300055" y="1901065"/>
                    <a:pt x="4290554" y="1905000"/>
                    <a:pt x="4280647" y="1905000"/>
                  </a:cubicBezTo>
                  <a:lnTo>
                    <a:pt x="37353" y="1905000"/>
                  </a:lnTo>
                  <a:cubicBezTo>
                    <a:pt x="27446" y="1905000"/>
                    <a:pt x="17945" y="1901065"/>
                    <a:pt x="10940" y="1894060"/>
                  </a:cubicBezTo>
                  <a:cubicBezTo>
                    <a:pt x="3935" y="1887055"/>
                    <a:pt x="0" y="1877554"/>
                    <a:pt x="0" y="1867647"/>
                  </a:cubicBezTo>
                  <a:lnTo>
                    <a:pt x="0" y="37353"/>
                  </a:lnTo>
                  <a:cubicBezTo>
                    <a:pt x="0" y="27446"/>
                    <a:pt x="3935" y="17945"/>
                    <a:pt x="10940" y="10940"/>
                  </a:cubicBezTo>
                  <a:cubicBezTo>
                    <a:pt x="17945" y="3935"/>
                    <a:pt x="27446" y="0"/>
                    <a:pt x="37353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9525"/>
              <a:ext cx="4318000" cy="189547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CONTROLLED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WORKFLOW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8667750" y="6524625"/>
            <a:ext cx="95250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8" name="Group 18"/>
          <p:cNvGrpSpPr/>
          <p:nvPr/>
        </p:nvGrpSpPr>
        <p:grpSpPr>
          <a:xfrm>
            <a:off x="9715500" y="5810250"/>
            <a:ext cx="3238500" cy="1428750"/>
            <a:chOff x="0" y="0"/>
            <a:chExt cx="4318000" cy="1905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318000" cy="1905000"/>
            </a:xfrm>
            <a:custGeom>
              <a:avLst/>
              <a:gdLst/>
              <a:ahLst/>
              <a:cxnLst/>
              <a:rect l="l" t="t" r="r" b="b"/>
              <a:pathLst>
                <a:path w="4318000" h="1905000">
                  <a:moveTo>
                    <a:pt x="37353" y="0"/>
                  </a:moveTo>
                  <a:lnTo>
                    <a:pt x="4280647" y="0"/>
                  </a:lnTo>
                  <a:cubicBezTo>
                    <a:pt x="4290554" y="0"/>
                    <a:pt x="4300055" y="3935"/>
                    <a:pt x="4307060" y="10940"/>
                  </a:cubicBezTo>
                  <a:cubicBezTo>
                    <a:pt x="4314065" y="17945"/>
                    <a:pt x="4318000" y="27446"/>
                    <a:pt x="4318000" y="37353"/>
                  </a:cubicBezTo>
                  <a:lnTo>
                    <a:pt x="4318000" y="1867647"/>
                  </a:lnTo>
                  <a:cubicBezTo>
                    <a:pt x="4318000" y="1877554"/>
                    <a:pt x="4314065" y="1887055"/>
                    <a:pt x="4307060" y="1894060"/>
                  </a:cubicBezTo>
                  <a:cubicBezTo>
                    <a:pt x="4300055" y="1901065"/>
                    <a:pt x="4290554" y="1905000"/>
                    <a:pt x="4280647" y="1905000"/>
                  </a:cubicBezTo>
                  <a:lnTo>
                    <a:pt x="37353" y="1905000"/>
                  </a:lnTo>
                  <a:cubicBezTo>
                    <a:pt x="27446" y="1905000"/>
                    <a:pt x="17945" y="1901065"/>
                    <a:pt x="10940" y="1894060"/>
                  </a:cubicBezTo>
                  <a:cubicBezTo>
                    <a:pt x="3935" y="1887055"/>
                    <a:pt x="0" y="1877554"/>
                    <a:pt x="0" y="1867647"/>
                  </a:cubicBezTo>
                  <a:lnTo>
                    <a:pt x="0" y="37353"/>
                  </a:lnTo>
                  <a:cubicBezTo>
                    <a:pt x="0" y="27446"/>
                    <a:pt x="3935" y="17945"/>
                    <a:pt x="10940" y="10940"/>
                  </a:cubicBezTo>
                  <a:cubicBezTo>
                    <a:pt x="17945" y="3935"/>
                    <a:pt x="27446" y="0"/>
                    <a:pt x="37353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9525"/>
              <a:ext cx="4318000" cy="1895475"/>
            </a:xfrm>
            <a:prstGeom prst="rect">
              <a:avLst/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APPROVED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EXECUTION</a:t>
              </a:r>
            </a:p>
          </p:txBody>
        </p:sp>
      </p:grpSp>
      <p:sp>
        <p:nvSpPr>
          <p:cNvPr id="21" name="AutoShape 21"/>
          <p:cNvSpPr/>
          <p:nvPr/>
        </p:nvSpPr>
        <p:spPr>
          <a:xfrm>
            <a:off x="12954000" y="6524625"/>
            <a:ext cx="95250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2" name="Group 22"/>
          <p:cNvGrpSpPr/>
          <p:nvPr/>
        </p:nvGrpSpPr>
        <p:grpSpPr>
          <a:xfrm>
            <a:off x="14001750" y="5810250"/>
            <a:ext cx="3238500" cy="1428750"/>
            <a:chOff x="0" y="0"/>
            <a:chExt cx="4318000" cy="19050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318000" cy="1905000"/>
            </a:xfrm>
            <a:custGeom>
              <a:avLst/>
              <a:gdLst/>
              <a:ahLst/>
              <a:cxnLst/>
              <a:rect l="l" t="t" r="r" b="b"/>
              <a:pathLst>
                <a:path w="4318000" h="1905000">
                  <a:moveTo>
                    <a:pt x="37353" y="0"/>
                  </a:moveTo>
                  <a:lnTo>
                    <a:pt x="4280647" y="0"/>
                  </a:lnTo>
                  <a:cubicBezTo>
                    <a:pt x="4290554" y="0"/>
                    <a:pt x="4300055" y="3935"/>
                    <a:pt x="4307060" y="10940"/>
                  </a:cubicBezTo>
                  <a:cubicBezTo>
                    <a:pt x="4314065" y="17945"/>
                    <a:pt x="4318000" y="27446"/>
                    <a:pt x="4318000" y="37353"/>
                  </a:cubicBezTo>
                  <a:lnTo>
                    <a:pt x="4318000" y="1867647"/>
                  </a:lnTo>
                  <a:cubicBezTo>
                    <a:pt x="4318000" y="1877554"/>
                    <a:pt x="4314065" y="1887055"/>
                    <a:pt x="4307060" y="1894060"/>
                  </a:cubicBezTo>
                  <a:cubicBezTo>
                    <a:pt x="4300055" y="1901065"/>
                    <a:pt x="4290554" y="1905000"/>
                    <a:pt x="4280647" y="1905000"/>
                  </a:cubicBezTo>
                  <a:lnTo>
                    <a:pt x="37353" y="1905000"/>
                  </a:lnTo>
                  <a:cubicBezTo>
                    <a:pt x="27446" y="1905000"/>
                    <a:pt x="17945" y="1901065"/>
                    <a:pt x="10940" y="1894060"/>
                  </a:cubicBezTo>
                  <a:cubicBezTo>
                    <a:pt x="3935" y="1887055"/>
                    <a:pt x="0" y="1877554"/>
                    <a:pt x="0" y="1867647"/>
                  </a:cubicBezTo>
                  <a:lnTo>
                    <a:pt x="0" y="37353"/>
                  </a:lnTo>
                  <a:cubicBezTo>
                    <a:pt x="0" y="27446"/>
                    <a:pt x="3935" y="17945"/>
                    <a:pt x="10940" y="10940"/>
                  </a:cubicBezTo>
                  <a:cubicBezTo>
                    <a:pt x="17945" y="3935"/>
                    <a:pt x="27446" y="0"/>
                    <a:pt x="37353" y="0"/>
                  </a:cubicBezTo>
                  <a:close/>
                </a:path>
              </a:pathLst>
            </a:cu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9525"/>
              <a:ext cx="4318000" cy="1895475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OPERATIONAL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EVIDENCE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02/21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1" name="Picture 40" descr="Reactor&#10;&#10;AI-generated content may be incorrect.">
            <a:extLst>
              <a:ext uri="{FF2B5EF4-FFF2-40B4-BE49-F238E27FC236}">
                <a16:creationId xmlns:a16="http://schemas.microsoft.com/office/drawing/2014/main" id="{68423776-9F22-3D3C-6E32-D2ADA69132B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Today’s outcome: a structured incident triage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sp>
        <p:nvSpPr>
          <p:cNvPr id="8" name="TextBox 8"/>
          <p:cNvSpPr txBox="1"/>
          <p:nvPr/>
        </p:nvSpPr>
        <p:spPr>
          <a:xfrm>
            <a:off x="1143000" y="2524125"/>
            <a:ext cx="7239000" cy="1829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87"/>
              </a:lnSpc>
            </a:pPr>
            <a:r>
              <a:rPr lang="en-US" sz="28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01  Define an agent contract</a:t>
            </a:r>
          </a:p>
          <a:p>
            <a:pPr algn="l">
              <a:lnSpc>
                <a:spcPts val="4987"/>
              </a:lnSpc>
            </a:pPr>
            <a:r>
              <a:rPr lang="en-US" sz="28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02  Add a typed read-only tool</a:t>
            </a:r>
          </a:p>
          <a:p>
            <a:pPr algn="l">
              <a:lnSpc>
                <a:spcPts val="4987"/>
              </a:lnSpc>
            </a:pPr>
            <a:r>
              <a:rPr lang="en-US" sz="28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03  Compare hosting choices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43000" y="6648450"/>
            <a:ext cx="723900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225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This episode stops before production remediation.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810750" y="2476500"/>
            <a:ext cx="6667500" cy="4762500"/>
            <a:chOff x="0" y="0"/>
            <a:chExt cx="889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90000" cy="6350000"/>
            </a:xfrm>
            <a:custGeom>
              <a:avLst/>
              <a:gdLst/>
              <a:ahLst/>
              <a:cxnLst/>
              <a:rect l="l" t="t" r="r" b="b"/>
              <a:pathLst>
                <a:path w="8890000" h="6350000">
                  <a:moveTo>
                    <a:pt x="0" y="0"/>
                  </a:moveTo>
                  <a:lnTo>
                    <a:pt x="8890000" y="0"/>
                  </a:lnTo>
                  <a:lnTo>
                    <a:pt x="8890000" y="6350000"/>
                  </a:lnTo>
                  <a:lnTo>
                    <a:pt x="0" y="63500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890000" cy="638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82250" y="2952750"/>
            <a:ext cx="5524500" cy="647700"/>
            <a:chOff x="0" y="0"/>
            <a:chExt cx="7366000" cy="863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366000" cy="863600"/>
            </a:xfrm>
            <a:custGeom>
              <a:avLst/>
              <a:gdLst/>
              <a:ahLst/>
              <a:cxnLst/>
              <a:rect l="l" t="t" r="r" b="b"/>
              <a:pathLst>
                <a:path w="7366000" h="8636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841703"/>
                  </a:lnTo>
                  <a:cubicBezTo>
                    <a:pt x="7366000" y="847511"/>
                    <a:pt x="7363693" y="853080"/>
                    <a:pt x="7359586" y="857187"/>
                  </a:cubicBezTo>
                  <a:cubicBezTo>
                    <a:pt x="7355480" y="861293"/>
                    <a:pt x="7349911" y="863600"/>
                    <a:pt x="7344104" y="863600"/>
                  </a:cubicBezTo>
                  <a:lnTo>
                    <a:pt x="21897" y="863600"/>
                  </a:lnTo>
                  <a:cubicBezTo>
                    <a:pt x="16089" y="863600"/>
                    <a:pt x="10520" y="861293"/>
                    <a:pt x="6413" y="857187"/>
                  </a:cubicBezTo>
                  <a:cubicBezTo>
                    <a:pt x="2307" y="853080"/>
                    <a:pt x="0" y="847511"/>
                    <a:pt x="0" y="8417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525"/>
              <a:ext cx="7366000" cy="854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SEVERITY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382250" y="3905250"/>
            <a:ext cx="5524500" cy="647700"/>
            <a:chOff x="0" y="0"/>
            <a:chExt cx="7366000" cy="863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366000" cy="863600"/>
            </a:xfrm>
            <a:custGeom>
              <a:avLst/>
              <a:gdLst/>
              <a:ahLst/>
              <a:cxnLst/>
              <a:rect l="l" t="t" r="r" b="b"/>
              <a:pathLst>
                <a:path w="7366000" h="8636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841703"/>
                  </a:lnTo>
                  <a:cubicBezTo>
                    <a:pt x="7366000" y="847511"/>
                    <a:pt x="7363693" y="853080"/>
                    <a:pt x="7359586" y="857187"/>
                  </a:cubicBezTo>
                  <a:cubicBezTo>
                    <a:pt x="7355480" y="861293"/>
                    <a:pt x="7349911" y="863600"/>
                    <a:pt x="7344104" y="863600"/>
                  </a:cubicBezTo>
                  <a:lnTo>
                    <a:pt x="21897" y="863600"/>
                  </a:lnTo>
                  <a:cubicBezTo>
                    <a:pt x="16089" y="863600"/>
                    <a:pt x="10520" y="861293"/>
                    <a:pt x="6413" y="857187"/>
                  </a:cubicBezTo>
                  <a:cubicBezTo>
                    <a:pt x="2307" y="853080"/>
                    <a:pt x="0" y="847511"/>
                    <a:pt x="0" y="8417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525"/>
              <a:ext cx="7366000" cy="854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AFFECTED SERVICES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382250" y="4857750"/>
            <a:ext cx="5524500" cy="647700"/>
            <a:chOff x="0" y="0"/>
            <a:chExt cx="7366000" cy="8636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366000" cy="863600"/>
            </a:xfrm>
            <a:custGeom>
              <a:avLst/>
              <a:gdLst/>
              <a:ahLst/>
              <a:cxnLst/>
              <a:rect l="l" t="t" r="r" b="b"/>
              <a:pathLst>
                <a:path w="7366000" h="8636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841703"/>
                  </a:lnTo>
                  <a:cubicBezTo>
                    <a:pt x="7366000" y="847511"/>
                    <a:pt x="7363693" y="853080"/>
                    <a:pt x="7359586" y="857187"/>
                  </a:cubicBezTo>
                  <a:cubicBezTo>
                    <a:pt x="7355480" y="861293"/>
                    <a:pt x="7349911" y="863600"/>
                    <a:pt x="7344104" y="863600"/>
                  </a:cubicBezTo>
                  <a:lnTo>
                    <a:pt x="21897" y="863600"/>
                  </a:lnTo>
                  <a:cubicBezTo>
                    <a:pt x="16089" y="863600"/>
                    <a:pt x="10520" y="861293"/>
                    <a:pt x="6413" y="857187"/>
                  </a:cubicBezTo>
                  <a:cubicBezTo>
                    <a:pt x="2307" y="853080"/>
                    <a:pt x="0" y="847511"/>
                    <a:pt x="0" y="8417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9525"/>
              <a:ext cx="7366000" cy="854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EVIDENCE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382250" y="5810250"/>
            <a:ext cx="5524500" cy="647700"/>
            <a:chOff x="0" y="0"/>
            <a:chExt cx="7366000" cy="863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66000" cy="863600"/>
            </a:xfrm>
            <a:custGeom>
              <a:avLst/>
              <a:gdLst/>
              <a:ahLst/>
              <a:cxnLst/>
              <a:rect l="l" t="t" r="r" b="b"/>
              <a:pathLst>
                <a:path w="7366000" h="8636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841703"/>
                  </a:lnTo>
                  <a:cubicBezTo>
                    <a:pt x="7366000" y="847511"/>
                    <a:pt x="7363693" y="853080"/>
                    <a:pt x="7359586" y="857187"/>
                  </a:cubicBezTo>
                  <a:cubicBezTo>
                    <a:pt x="7355480" y="861293"/>
                    <a:pt x="7349911" y="863600"/>
                    <a:pt x="7344104" y="863600"/>
                  </a:cubicBezTo>
                  <a:lnTo>
                    <a:pt x="21897" y="863600"/>
                  </a:lnTo>
                  <a:cubicBezTo>
                    <a:pt x="16089" y="863600"/>
                    <a:pt x="10520" y="861293"/>
                    <a:pt x="6413" y="857187"/>
                  </a:cubicBezTo>
                  <a:cubicBezTo>
                    <a:pt x="2307" y="853080"/>
                    <a:pt x="0" y="847511"/>
                    <a:pt x="0" y="8417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9525"/>
              <a:ext cx="7366000" cy="854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CONFIDENCE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03/21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1" name="Picture 40" descr="Reactor&#10;&#10;AI-generated content may be incorrect.">
            <a:extLst>
              <a:ext uri="{FF2B5EF4-FFF2-40B4-BE49-F238E27FC236}">
                <a16:creationId xmlns:a16="http://schemas.microsoft.com/office/drawing/2014/main" id="{DFF6CE2B-DBE9-D9A2-3A10-256A1A5F0D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ATLAS starts with an operational question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238250" y="3143250"/>
            <a:ext cx="3714750" cy="1238250"/>
            <a:chOff x="0" y="0"/>
            <a:chExt cx="4953000" cy="1651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53000" cy="1651000"/>
            </a:xfrm>
            <a:custGeom>
              <a:avLst/>
              <a:gdLst/>
              <a:ahLst/>
              <a:cxnLst/>
              <a:rect l="l" t="t" r="r" b="b"/>
              <a:pathLst>
                <a:path w="4953000" h="1651000">
                  <a:moveTo>
                    <a:pt x="32564" y="0"/>
                  </a:moveTo>
                  <a:lnTo>
                    <a:pt x="4920436" y="0"/>
                  </a:lnTo>
                  <a:cubicBezTo>
                    <a:pt x="4929072" y="0"/>
                    <a:pt x="4937355" y="3431"/>
                    <a:pt x="4943462" y="9538"/>
                  </a:cubicBezTo>
                  <a:cubicBezTo>
                    <a:pt x="4949569" y="15645"/>
                    <a:pt x="4953000" y="23928"/>
                    <a:pt x="4953000" y="32564"/>
                  </a:cubicBezTo>
                  <a:lnTo>
                    <a:pt x="4953000" y="1618436"/>
                  </a:lnTo>
                  <a:cubicBezTo>
                    <a:pt x="4953000" y="1627072"/>
                    <a:pt x="4949569" y="1635355"/>
                    <a:pt x="4943462" y="1641462"/>
                  </a:cubicBezTo>
                  <a:cubicBezTo>
                    <a:pt x="4937355" y="1647569"/>
                    <a:pt x="4929072" y="1651000"/>
                    <a:pt x="4920436" y="1651000"/>
                  </a:cubicBezTo>
                  <a:lnTo>
                    <a:pt x="32564" y="1651000"/>
                  </a:lnTo>
                  <a:cubicBezTo>
                    <a:pt x="23928" y="1651000"/>
                    <a:pt x="15645" y="1647569"/>
                    <a:pt x="9538" y="1641462"/>
                  </a:cubicBezTo>
                  <a:cubicBezTo>
                    <a:pt x="3431" y="1635355"/>
                    <a:pt x="0" y="1627072"/>
                    <a:pt x="0" y="1618436"/>
                  </a:cubicBezTo>
                  <a:lnTo>
                    <a:pt x="0" y="32564"/>
                  </a:lnTo>
                  <a:cubicBezTo>
                    <a:pt x="0" y="23928"/>
                    <a:pt x="3431" y="15645"/>
                    <a:pt x="9538" y="9538"/>
                  </a:cubicBezTo>
                  <a:cubicBezTo>
                    <a:pt x="15645" y="3431"/>
                    <a:pt x="23928" y="0"/>
                    <a:pt x="32564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4953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CHECKOUT API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4953000" y="3762375"/>
            <a:ext cx="2095500" cy="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7048500" y="3143250"/>
            <a:ext cx="3714750" cy="1238250"/>
            <a:chOff x="0" y="0"/>
            <a:chExt cx="4953000" cy="1651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953000" cy="1651000"/>
            </a:xfrm>
            <a:custGeom>
              <a:avLst/>
              <a:gdLst/>
              <a:ahLst/>
              <a:cxnLst/>
              <a:rect l="l" t="t" r="r" b="b"/>
              <a:pathLst>
                <a:path w="4953000" h="1651000">
                  <a:moveTo>
                    <a:pt x="32564" y="0"/>
                  </a:moveTo>
                  <a:lnTo>
                    <a:pt x="4920436" y="0"/>
                  </a:lnTo>
                  <a:cubicBezTo>
                    <a:pt x="4929072" y="0"/>
                    <a:pt x="4937355" y="3431"/>
                    <a:pt x="4943462" y="9538"/>
                  </a:cubicBezTo>
                  <a:cubicBezTo>
                    <a:pt x="4949569" y="15645"/>
                    <a:pt x="4953000" y="23928"/>
                    <a:pt x="4953000" y="32564"/>
                  </a:cubicBezTo>
                  <a:lnTo>
                    <a:pt x="4953000" y="1618436"/>
                  </a:lnTo>
                  <a:cubicBezTo>
                    <a:pt x="4953000" y="1627072"/>
                    <a:pt x="4949569" y="1635355"/>
                    <a:pt x="4943462" y="1641462"/>
                  </a:cubicBezTo>
                  <a:cubicBezTo>
                    <a:pt x="4937355" y="1647569"/>
                    <a:pt x="4929072" y="1651000"/>
                    <a:pt x="4920436" y="1651000"/>
                  </a:cubicBezTo>
                  <a:lnTo>
                    <a:pt x="32564" y="1651000"/>
                  </a:lnTo>
                  <a:cubicBezTo>
                    <a:pt x="23928" y="1651000"/>
                    <a:pt x="15645" y="1647569"/>
                    <a:pt x="9538" y="1641462"/>
                  </a:cubicBezTo>
                  <a:cubicBezTo>
                    <a:pt x="3431" y="1635355"/>
                    <a:pt x="0" y="1627072"/>
                    <a:pt x="0" y="1618436"/>
                  </a:cubicBezTo>
                  <a:lnTo>
                    <a:pt x="0" y="32564"/>
                  </a:lnTo>
                  <a:cubicBezTo>
                    <a:pt x="0" y="23928"/>
                    <a:pt x="3431" y="15645"/>
                    <a:pt x="9538" y="9538"/>
                  </a:cubicBezTo>
                  <a:cubicBezTo>
                    <a:pt x="15645" y="3431"/>
                    <a:pt x="23928" y="0"/>
                    <a:pt x="32564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4953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PAYMENTS SERVICE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524000" y="4819650"/>
            <a:ext cx="885825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Hypothesis, not root cause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811000" y="2838450"/>
            <a:ext cx="495300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dirty="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ENGINEER REPORT</a:t>
            </a:r>
          </a:p>
          <a:p>
            <a:pPr algn="l">
              <a:lnSpc>
                <a:spcPts val="1574"/>
              </a:lnSpc>
            </a:pPr>
            <a:r>
              <a:rPr lang="en-US" sz="1125" dirty="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20% EU checkout timeouts since 14:05. Started after the payments deploy.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811000" y="5772150"/>
            <a:ext cx="495300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spc="132" dirty="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SYNTHETIC DEMO DATA</a:t>
            </a:r>
          </a:p>
          <a:p>
            <a:pPr algn="l">
              <a:lnSpc>
                <a:spcPts val="2310"/>
              </a:lnSpc>
            </a:pPr>
            <a:r>
              <a:rPr lang="en-US" sz="1650" spc="132" dirty="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Telemetry + change history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04/21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34" name="Picture 33" descr="Reactor&#10;&#10;AI-generated content may be incorrect.">
            <a:extLst>
              <a:ext uri="{FF2B5EF4-FFF2-40B4-BE49-F238E27FC236}">
                <a16:creationId xmlns:a16="http://schemas.microsoft.com/office/drawing/2014/main" id="{8BC0BF21-F12D-946B-99D7-97967389F9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An agent application has explicit boundaries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952500" y="3048000"/>
            <a:ext cx="3333750" cy="1428750"/>
            <a:chOff x="0" y="0"/>
            <a:chExt cx="4445000" cy="1905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445000" cy="1905000"/>
            </a:xfrm>
            <a:custGeom>
              <a:avLst/>
              <a:gdLst/>
              <a:ahLst/>
              <a:cxnLst/>
              <a:rect l="l" t="t" r="r" b="b"/>
              <a:pathLst>
                <a:path w="4445000" h="1905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868714"/>
                  </a:lnTo>
                  <a:cubicBezTo>
                    <a:pt x="4445000" y="1888754"/>
                    <a:pt x="4428754" y="1905000"/>
                    <a:pt x="4408714" y="1905000"/>
                  </a:cubicBezTo>
                  <a:lnTo>
                    <a:pt x="36286" y="1905000"/>
                  </a:lnTo>
                  <a:cubicBezTo>
                    <a:pt x="16246" y="1905000"/>
                    <a:pt x="0" y="1888754"/>
                    <a:pt x="0" y="1868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4445000" cy="1895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INPUT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VALIDATION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4286250" y="3762375"/>
            <a:ext cx="857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5238750" y="3048000"/>
            <a:ext cx="3333750" cy="1428750"/>
            <a:chOff x="0" y="0"/>
            <a:chExt cx="4445000" cy="1905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445000" cy="1905000"/>
            </a:xfrm>
            <a:custGeom>
              <a:avLst/>
              <a:gdLst/>
              <a:ahLst/>
              <a:cxnLst/>
              <a:rect l="l" t="t" r="r" b="b"/>
              <a:pathLst>
                <a:path w="4445000" h="1905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868714"/>
                  </a:lnTo>
                  <a:cubicBezTo>
                    <a:pt x="4445000" y="1888754"/>
                    <a:pt x="4428754" y="1905000"/>
                    <a:pt x="4408714" y="1905000"/>
                  </a:cubicBezTo>
                  <a:lnTo>
                    <a:pt x="36286" y="1905000"/>
                  </a:lnTo>
                  <a:cubicBezTo>
                    <a:pt x="16246" y="1905000"/>
                    <a:pt x="0" y="1888754"/>
                    <a:pt x="0" y="1868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4445000" cy="1895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AGENT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REASONING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8572500" y="3762375"/>
            <a:ext cx="857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9525000" y="3048000"/>
            <a:ext cx="3333750" cy="1428750"/>
            <a:chOff x="0" y="0"/>
            <a:chExt cx="4445000" cy="1905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45000" cy="1905000"/>
            </a:xfrm>
            <a:custGeom>
              <a:avLst/>
              <a:gdLst/>
              <a:ahLst/>
              <a:cxnLst/>
              <a:rect l="l" t="t" r="r" b="b"/>
              <a:pathLst>
                <a:path w="4445000" h="1905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868714"/>
                  </a:lnTo>
                  <a:cubicBezTo>
                    <a:pt x="4445000" y="1888754"/>
                    <a:pt x="4428754" y="1905000"/>
                    <a:pt x="4408714" y="1905000"/>
                  </a:cubicBezTo>
                  <a:lnTo>
                    <a:pt x="36286" y="1905000"/>
                  </a:lnTo>
                  <a:cubicBezTo>
                    <a:pt x="16246" y="1905000"/>
                    <a:pt x="0" y="1888754"/>
                    <a:pt x="0" y="1868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0078D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525"/>
              <a:ext cx="4445000" cy="1895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APPROVED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READ-ONLY TOOLS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12858750" y="3762375"/>
            <a:ext cx="857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13811250" y="3048000"/>
            <a:ext cx="3333750" cy="1428750"/>
            <a:chOff x="0" y="0"/>
            <a:chExt cx="4445000" cy="1905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445000" cy="1905000"/>
            </a:xfrm>
            <a:custGeom>
              <a:avLst/>
              <a:gdLst/>
              <a:ahLst/>
              <a:cxnLst/>
              <a:rect l="l" t="t" r="r" b="b"/>
              <a:pathLst>
                <a:path w="4445000" h="1905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868714"/>
                  </a:lnTo>
                  <a:cubicBezTo>
                    <a:pt x="4445000" y="1888754"/>
                    <a:pt x="4428754" y="1905000"/>
                    <a:pt x="4408714" y="1905000"/>
                  </a:cubicBezTo>
                  <a:lnTo>
                    <a:pt x="36286" y="1905000"/>
                  </a:lnTo>
                  <a:cubicBezTo>
                    <a:pt x="16246" y="1905000"/>
                    <a:pt x="0" y="1888754"/>
                    <a:pt x="0" y="1868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9525"/>
              <a:ext cx="4445000" cy="1895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OUTPUT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VALIDATION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143250" y="5810250"/>
            <a:ext cx="12001500" cy="2000250"/>
            <a:chOff x="0" y="0"/>
            <a:chExt cx="16002000" cy="2667000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6002000" cy="2667000"/>
              <a:chOff x="0" y="0"/>
              <a:chExt cx="16002000" cy="26670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60020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6002000" h="2667000">
                    <a:moveTo>
                      <a:pt x="0" y="0"/>
                    </a:moveTo>
                    <a:lnTo>
                      <a:pt x="16002000" y="0"/>
                    </a:lnTo>
                    <a:lnTo>
                      <a:pt x="160020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60020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0" y="0"/>
              <a:ext cx="101600" cy="2667000"/>
              <a:chOff x="0" y="0"/>
              <a:chExt cx="101600" cy="26670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016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667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1016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431800" y="292100"/>
              <a:ext cx="1513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APPLICATION CODE OWNS THE GUARDRAILS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31800" y="971550"/>
              <a:ext cx="15138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Authentication, authorization, and schema validation are application responsibilities — not agent internals.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33" name="TextBox 33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05/21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8" name="Picture 47" descr="Reactor&#10;&#10;AI-generated content may be incorrect.">
            <a:extLst>
              <a:ext uri="{FF2B5EF4-FFF2-40B4-BE49-F238E27FC236}">
                <a16:creationId xmlns:a16="http://schemas.microsoft.com/office/drawing/2014/main" id="{8C5A42D5-5198-C7C7-C78E-D9215503663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Four implementation shapes serve different needs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952500" y="2238375"/>
            <a:ext cx="4286250" cy="590550"/>
            <a:chOff x="0" y="0"/>
            <a:chExt cx="5715000" cy="787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715000" cy="787400"/>
            </a:xfrm>
            <a:custGeom>
              <a:avLst/>
              <a:gdLst/>
              <a:ahLst/>
              <a:cxnLst/>
              <a:rect l="l" t="t" r="r" b="b"/>
              <a:pathLst>
                <a:path w="5715000" h="787400">
                  <a:moveTo>
                    <a:pt x="28222" y="0"/>
                  </a:moveTo>
                  <a:lnTo>
                    <a:pt x="5686778" y="0"/>
                  </a:lnTo>
                  <a:cubicBezTo>
                    <a:pt x="5694263" y="0"/>
                    <a:pt x="5701441" y="2973"/>
                    <a:pt x="5706734" y="8266"/>
                  </a:cubicBezTo>
                  <a:cubicBezTo>
                    <a:pt x="5712027" y="13559"/>
                    <a:pt x="5715000" y="20737"/>
                    <a:pt x="5715000" y="28222"/>
                  </a:cubicBezTo>
                  <a:lnTo>
                    <a:pt x="5715000" y="759178"/>
                  </a:lnTo>
                  <a:cubicBezTo>
                    <a:pt x="5715000" y="766663"/>
                    <a:pt x="5712027" y="773841"/>
                    <a:pt x="5706734" y="779134"/>
                  </a:cubicBezTo>
                  <a:cubicBezTo>
                    <a:pt x="5701441" y="784427"/>
                    <a:pt x="5694263" y="787400"/>
                    <a:pt x="5686778" y="787400"/>
                  </a:cubicBezTo>
                  <a:lnTo>
                    <a:pt x="28222" y="787400"/>
                  </a:lnTo>
                  <a:cubicBezTo>
                    <a:pt x="20737" y="787400"/>
                    <a:pt x="13559" y="784427"/>
                    <a:pt x="8266" y="779134"/>
                  </a:cubicBezTo>
                  <a:cubicBezTo>
                    <a:pt x="2973" y="773841"/>
                    <a:pt x="0" y="766663"/>
                    <a:pt x="0" y="7591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2A446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5715000" cy="777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SHAPE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334000" y="2238375"/>
            <a:ext cx="4476750" cy="590550"/>
            <a:chOff x="0" y="0"/>
            <a:chExt cx="5969000" cy="787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69000" cy="787400"/>
            </a:xfrm>
            <a:custGeom>
              <a:avLst/>
              <a:gdLst/>
              <a:ahLst/>
              <a:cxnLst/>
              <a:rect l="l" t="t" r="r" b="b"/>
              <a:pathLst>
                <a:path w="5969000" h="787400">
                  <a:moveTo>
                    <a:pt x="27021" y="0"/>
                  </a:moveTo>
                  <a:lnTo>
                    <a:pt x="5941979" y="0"/>
                  </a:lnTo>
                  <a:cubicBezTo>
                    <a:pt x="5949145" y="0"/>
                    <a:pt x="5956018" y="2847"/>
                    <a:pt x="5961086" y="7914"/>
                  </a:cubicBezTo>
                  <a:cubicBezTo>
                    <a:pt x="5966153" y="12982"/>
                    <a:pt x="5969000" y="19855"/>
                    <a:pt x="5969000" y="27021"/>
                  </a:cubicBezTo>
                  <a:lnTo>
                    <a:pt x="5969000" y="760379"/>
                  </a:lnTo>
                  <a:cubicBezTo>
                    <a:pt x="5969000" y="767545"/>
                    <a:pt x="5966153" y="774418"/>
                    <a:pt x="5961086" y="779486"/>
                  </a:cubicBezTo>
                  <a:cubicBezTo>
                    <a:pt x="5956018" y="784553"/>
                    <a:pt x="5949145" y="787400"/>
                    <a:pt x="5941979" y="787400"/>
                  </a:cubicBezTo>
                  <a:lnTo>
                    <a:pt x="27021" y="787400"/>
                  </a:lnTo>
                  <a:cubicBezTo>
                    <a:pt x="19855" y="787400"/>
                    <a:pt x="12982" y="784553"/>
                    <a:pt x="7914" y="779486"/>
                  </a:cubicBezTo>
                  <a:cubicBezTo>
                    <a:pt x="2847" y="774418"/>
                    <a:pt x="0" y="767545"/>
                    <a:pt x="0" y="760379"/>
                  </a:cubicBezTo>
                  <a:lnTo>
                    <a:pt x="0" y="27021"/>
                  </a:lnTo>
                  <a:cubicBezTo>
                    <a:pt x="0" y="19855"/>
                    <a:pt x="2847" y="12982"/>
                    <a:pt x="7914" y="7914"/>
                  </a:cubicBezTo>
                  <a:cubicBezTo>
                    <a:pt x="12982" y="2847"/>
                    <a:pt x="19855" y="0"/>
                    <a:pt x="27021" y="0"/>
                  </a:cubicBezTo>
                  <a:close/>
                </a:path>
              </a:pathLst>
            </a:custGeom>
            <a:solidFill>
              <a:srgbClr val="2A446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9525"/>
              <a:ext cx="5969000" cy="777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CONFIGURATION / CODE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906000" y="2238375"/>
            <a:ext cx="3714750" cy="590550"/>
            <a:chOff x="0" y="0"/>
            <a:chExt cx="4953000" cy="787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953000" cy="787400"/>
            </a:xfrm>
            <a:custGeom>
              <a:avLst/>
              <a:gdLst/>
              <a:ahLst/>
              <a:cxnLst/>
              <a:rect l="l" t="t" r="r" b="b"/>
              <a:pathLst>
                <a:path w="4953000" h="787400">
                  <a:moveTo>
                    <a:pt x="32564" y="0"/>
                  </a:moveTo>
                  <a:lnTo>
                    <a:pt x="4920436" y="0"/>
                  </a:lnTo>
                  <a:cubicBezTo>
                    <a:pt x="4929072" y="0"/>
                    <a:pt x="4937355" y="3431"/>
                    <a:pt x="4943462" y="9538"/>
                  </a:cubicBezTo>
                  <a:cubicBezTo>
                    <a:pt x="4949569" y="15645"/>
                    <a:pt x="4953000" y="23928"/>
                    <a:pt x="4953000" y="32564"/>
                  </a:cubicBezTo>
                  <a:lnTo>
                    <a:pt x="4953000" y="754836"/>
                  </a:lnTo>
                  <a:cubicBezTo>
                    <a:pt x="4953000" y="763472"/>
                    <a:pt x="4949569" y="771755"/>
                    <a:pt x="4943462" y="777862"/>
                  </a:cubicBezTo>
                  <a:cubicBezTo>
                    <a:pt x="4937355" y="783969"/>
                    <a:pt x="4929072" y="787400"/>
                    <a:pt x="4920436" y="787400"/>
                  </a:cubicBezTo>
                  <a:lnTo>
                    <a:pt x="32564" y="787400"/>
                  </a:lnTo>
                  <a:cubicBezTo>
                    <a:pt x="23928" y="787400"/>
                    <a:pt x="15645" y="783969"/>
                    <a:pt x="9538" y="777862"/>
                  </a:cubicBezTo>
                  <a:cubicBezTo>
                    <a:pt x="3431" y="771755"/>
                    <a:pt x="0" y="763472"/>
                    <a:pt x="0" y="754836"/>
                  </a:cubicBezTo>
                  <a:lnTo>
                    <a:pt x="0" y="32564"/>
                  </a:lnTo>
                  <a:cubicBezTo>
                    <a:pt x="0" y="23928"/>
                    <a:pt x="3431" y="15645"/>
                    <a:pt x="9538" y="9538"/>
                  </a:cubicBezTo>
                  <a:cubicBezTo>
                    <a:pt x="15645" y="3431"/>
                    <a:pt x="23928" y="0"/>
                    <a:pt x="32564" y="0"/>
                  </a:cubicBezTo>
                  <a:close/>
                </a:path>
              </a:pathLst>
            </a:custGeom>
            <a:solidFill>
              <a:srgbClr val="2A446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9525"/>
              <a:ext cx="4953000" cy="777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HOSTING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716000" y="2238375"/>
            <a:ext cx="3619500" cy="590550"/>
            <a:chOff x="0" y="0"/>
            <a:chExt cx="4826000" cy="787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826000" cy="787400"/>
            </a:xfrm>
            <a:custGeom>
              <a:avLst/>
              <a:gdLst/>
              <a:ahLst/>
              <a:cxnLst/>
              <a:rect l="l" t="t" r="r" b="b"/>
              <a:pathLst>
                <a:path w="4826000" h="787400">
                  <a:moveTo>
                    <a:pt x="33421" y="0"/>
                  </a:moveTo>
                  <a:lnTo>
                    <a:pt x="4792579" y="0"/>
                  </a:lnTo>
                  <a:cubicBezTo>
                    <a:pt x="4811037" y="0"/>
                    <a:pt x="4826000" y="14963"/>
                    <a:pt x="4826000" y="33421"/>
                  </a:cubicBezTo>
                  <a:lnTo>
                    <a:pt x="4826000" y="753979"/>
                  </a:lnTo>
                  <a:cubicBezTo>
                    <a:pt x="4826000" y="772437"/>
                    <a:pt x="4811037" y="787400"/>
                    <a:pt x="4792579" y="787400"/>
                  </a:cubicBezTo>
                  <a:lnTo>
                    <a:pt x="33421" y="787400"/>
                  </a:lnTo>
                  <a:cubicBezTo>
                    <a:pt x="14963" y="787400"/>
                    <a:pt x="0" y="772437"/>
                    <a:pt x="0" y="753979"/>
                  </a:cubicBezTo>
                  <a:lnTo>
                    <a:pt x="0" y="33421"/>
                  </a:lnTo>
                  <a:cubicBezTo>
                    <a:pt x="0" y="14963"/>
                    <a:pt x="14963" y="0"/>
                    <a:pt x="33421" y="0"/>
                  </a:cubicBezTo>
                  <a:close/>
                </a:path>
              </a:pathLst>
            </a:custGeom>
            <a:solidFill>
              <a:srgbClr val="2A446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9525"/>
              <a:ext cx="4826000" cy="777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FIT / USE CASE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2500" y="2952750"/>
            <a:ext cx="16383000" cy="1143000"/>
            <a:chOff x="0" y="0"/>
            <a:chExt cx="21844000" cy="1524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844000" cy="1524000"/>
            </a:xfrm>
            <a:custGeom>
              <a:avLst/>
              <a:gdLst/>
              <a:ahLst/>
              <a:cxnLst/>
              <a:rect l="l" t="t" r="r" b="b"/>
              <a:pathLst>
                <a:path w="21844000" h="1524000">
                  <a:moveTo>
                    <a:pt x="0" y="0"/>
                  </a:moveTo>
                  <a:lnTo>
                    <a:pt x="21844000" y="0"/>
                  </a:lnTo>
                  <a:lnTo>
                    <a:pt x="21844000" y="1524000"/>
                  </a:lnTo>
                  <a:lnTo>
                    <a:pt x="0" y="15240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21844000" cy="156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2500" y="4333875"/>
            <a:ext cx="16383000" cy="1143000"/>
            <a:chOff x="0" y="0"/>
            <a:chExt cx="21844000" cy="1524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1844000" cy="1524000"/>
            </a:xfrm>
            <a:custGeom>
              <a:avLst/>
              <a:gdLst/>
              <a:ahLst/>
              <a:cxnLst/>
              <a:rect l="l" t="t" r="r" b="b"/>
              <a:pathLst>
                <a:path w="21844000" h="1524000">
                  <a:moveTo>
                    <a:pt x="0" y="0"/>
                  </a:moveTo>
                  <a:lnTo>
                    <a:pt x="21844000" y="0"/>
                  </a:lnTo>
                  <a:lnTo>
                    <a:pt x="21844000" y="1524000"/>
                  </a:lnTo>
                  <a:lnTo>
                    <a:pt x="0" y="152400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1844000" cy="156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2500" y="5715000"/>
            <a:ext cx="16383000" cy="1143000"/>
            <a:chOff x="0" y="0"/>
            <a:chExt cx="21844000" cy="1524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844000" cy="1524000"/>
            </a:xfrm>
            <a:custGeom>
              <a:avLst/>
              <a:gdLst/>
              <a:ahLst/>
              <a:cxnLst/>
              <a:rect l="l" t="t" r="r" b="b"/>
              <a:pathLst>
                <a:path w="21844000" h="1524000">
                  <a:moveTo>
                    <a:pt x="0" y="0"/>
                  </a:moveTo>
                  <a:lnTo>
                    <a:pt x="21844000" y="0"/>
                  </a:lnTo>
                  <a:lnTo>
                    <a:pt x="21844000" y="1524000"/>
                  </a:lnTo>
                  <a:lnTo>
                    <a:pt x="0" y="15240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21844000" cy="156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2500" y="7096125"/>
            <a:ext cx="16383000" cy="1143000"/>
            <a:chOff x="0" y="0"/>
            <a:chExt cx="21844000" cy="1524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1844000" cy="1524000"/>
            </a:xfrm>
            <a:custGeom>
              <a:avLst/>
              <a:gdLst/>
              <a:ahLst/>
              <a:cxnLst/>
              <a:rect l="l" t="t" r="r" b="b"/>
              <a:pathLst>
                <a:path w="21844000" h="1524000">
                  <a:moveTo>
                    <a:pt x="0" y="0"/>
                  </a:moveTo>
                  <a:lnTo>
                    <a:pt x="21844000" y="0"/>
                  </a:lnTo>
                  <a:lnTo>
                    <a:pt x="21844000" y="1524000"/>
                  </a:lnTo>
                  <a:lnTo>
                    <a:pt x="0" y="152400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1844000" cy="156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23950" y="3219450"/>
            <a:ext cx="39433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Raw model call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505450" y="3219450"/>
            <a:ext cx="4133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Application-owned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077450" y="3219450"/>
            <a:ext cx="3371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Application-owned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887450" y="3219450"/>
            <a:ext cx="32766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Maximum control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3950" y="4600575"/>
            <a:ext cx="39433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Prompt agent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505450" y="4600575"/>
            <a:ext cx="4133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Prompt + tool config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077450" y="4600575"/>
            <a:ext cx="3371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Choice of runtime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887450" y="4600575"/>
            <a:ext cx="32766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Fast composition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3950" y="5981700"/>
            <a:ext cx="39433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Hosted agent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05450" y="5981700"/>
            <a:ext cx="4133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Managed definition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077450" y="5981700"/>
            <a:ext cx="3371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Foundry-hosted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887450" y="5981700"/>
            <a:ext cx="32766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Managed operations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3950" y="7362825"/>
            <a:ext cx="39433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Custom Container Apps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05450" y="7362825"/>
            <a:ext cx="4133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Full application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077450" y="7362825"/>
            <a:ext cx="337185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Workload-owned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887450" y="7362825"/>
            <a:ext cx="32766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Custom integration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43000" y="8629650"/>
            <a:ext cx="1600200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1725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Raw model calls are not identity-free: the application still owns identity, policy, validation, and operations.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50" name="TextBox 50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06/21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65" name="Picture 64" descr="Reactor&#10;&#10;AI-generated content may be incorrect.">
            <a:extLst>
              <a:ext uri="{FF2B5EF4-FFF2-40B4-BE49-F238E27FC236}">
                <a16:creationId xmlns:a16="http://schemas.microsoft.com/office/drawing/2014/main" id="{2B176B78-11CF-A00D-D701-7233724F3B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Foundry and Agent Framework have different roles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143000" y="2571750"/>
            <a:ext cx="6858000" cy="2476500"/>
            <a:chOff x="0" y="0"/>
            <a:chExt cx="9144000" cy="330200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9144000" cy="3302000"/>
              <a:chOff x="0" y="0"/>
              <a:chExt cx="9144000" cy="3302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144000" cy="330200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3302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3302000"/>
                    </a:lnTo>
                    <a:lnTo>
                      <a:pt x="0" y="3302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9144000" cy="3340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101600" cy="3302000"/>
              <a:chOff x="0" y="0"/>
              <a:chExt cx="101600" cy="3302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01600" cy="3302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3302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3302000"/>
                    </a:lnTo>
                    <a:lnTo>
                      <a:pt x="0" y="3302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101600" cy="3340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431800" y="292100"/>
              <a:ext cx="828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FOUNDRY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800" y="971550"/>
              <a:ext cx="8280400" cy="745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Managed model and agent services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Hosting option for managed agents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287000" y="2571750"/>
            <a:ext cx="6858000" cy="2476500"/>
            <a:chOff x="0" y="0"/>
            <a:chExt cx="9144000" cy="33020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9144000" cy="3302000"/>
              <a:chOff x="0" y="0"/>
              <a:chExt cx="9144000" cy="33020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0" cy="330200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330200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3302000"/>
                    </a:lnTo>
                    <a:lnTo>
                      <a:pt x="0" y="3302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9144000" cy="3340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101600" cy="3302000"/>
              <a:chOff x="0" y="0"/>
              <a:chExt cx="101600" cy="3302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01600" cy="3302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3302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3302000"/>
                    </a:lnTo>
                    <a:lnTo>
                      <a:pt x="0" y="3302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01600" cy="3340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31800" y="292100"/>
              <a:ext cx="828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AGENT FRAMEWORK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31800" y="971550"/>
              <a:ext cx="8280400" cy="745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Code-level agents and workflows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Portable application composition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667500" y="6286500"/>
            <a:ext cx="4953000" cy="1143000"/>
            <a:chOff x="0" y="0"/>
            <a:chExt cx="6604000" cy="1524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604000" cy="1524000"/>
            </a:xfrm>
            <a:custGeom>
              <a:avLst/>
              <a:gdLst/>
              <a:ahLst/>
              <a:cxnLst/>
              <a:rect l="l" t="t" r="r" b="b"/>
              <a:pathLst>
                <a:path w="6604000" h="1524000">
                  <a:moveTo>
                    <a:pt x="24423" y="0"/>
                  </a:moveTo>
                  <a:lnTo>
                    <a:pt x="6579577" y="0"/>
                  </a:lnTo>
                  <a:cubicBezTo>
                    <a:pt x="6586055" y="0"/>
                    <a:pt x="6592267" y="2573"/>
                    <a:pt x="6596847" y="7153"/>
                  </a:cubicBezTo>
                  <a:cubicBezTo>
                    <a:pt x="6601427" y="11734"/>
                    <a:pt x="6604000" y="17946"/>
                    <a:pt x="6604000" y="24423"/>
                  </a:cubicBezTo>
                  <a:lnTo>
                    <a:pt x="6604000" y="1499577"/>
                  </a:lnTo>
                  <a:cubicBezTo>
                    <a:pt x="6604000" y="1506054"/>
                    <a:pt x="6601427" y="1512266"/>
                    <a:pt x="6596847" y="1516847"/>
                  </a:cubicBezTo>
                  <a:cubicBezTo>
                    <a:pt x="6592267" y="1521427"/>
                    <a:pt x="6586055" y="1524000"/>
                    <a:pt x="6579577" y="1524000"/>
                  </a:cubicBezTo>
                  <a:lnTo>
                    <a:pt x="24423" y="1524000"/>
                  </a:lnTo>
                  <a:cubicBezTo>
                    <a:pt x="17946" y="1524000"/>
                    <a:pt x="11734" y="1521427"/>
                    <a:pt x="7153" y="1516847"/>
                  </a:cubicBezTo>
                  <a:cubicBezTo>
                    <a:pt x="2573" y="1512266"/>
                    <a:pt x="0" y="1506054"/>
                    <a:pt x="0" y="1499577"/>
                  </a:cubicBezTo>
                  <a:lnTo>
                    <a:pt x="0" y="24423"/>
                  </a:lnTo>
                  <a:cubicBezTo>
                    <a:pt x="0" y="17946"/>
                    <a:pt x="2573" y="11734"/>
                    <a:pt x="7153" y="7153"/>
                  </a:cubicBezTo>
                  <a:cubicBezTo>
                    <a:pt x="11734" y="2573"/>
                    <a:pt x="17946" y="0"/>
                    <a:pt x="24423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9525"/>
              <a:ext cx="6604000" cy="1514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AGENT FRAMEWORK APPLICATION</a:t>
              </a:r>
            </a:p>
          </p:txBody>
        </p:sp>
      </p:grpSp>
      <p:sp>
        <p:nvSpPr>
          <p:cNvPr id="29" name="AutoShape 29"/>
          <p:cNvSpPr/>
          <p:nvPr/>
        </p:nvSpPr>
        <p:spPr>
          <a:xfrm flipH="1" flipV="1">
            <a:off x="5619750" y="5191125"/>
            <a:ext cx="2381250" cy="1095375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sp>
        <p:nvSpPr>
          <p:cNvPr id="30" name="AutoShape 30"/>
          <p:cNvSpPr/>
          <p:nvPr/>
        </p:nvSpPr>
        <p:spPr>
          <a:xfrm flipV="1">
            <a:off x="10287000" y="5191125"/>
            <a:ext cx="2381250" cy="1095375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Box 31"/>
          <p:cNvSpPr txBox="1"/>
          <p:nvPr/>
        </p:nvSpPr>
        <p:spPr>
          <a:xfrm>
            <a:off x="5524500" y="7772400"/>
            <a:ext cx="7239000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0"/>
              </a:lnSpc>
            </a:pPr>
            <a:r>
              <a:rPr lang="en-US" sz="1650" spc="132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ALTERNATIVE DEPLOYMENTS — NOT SERIAL STEPS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33" name="TextBox 33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07/21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8" name="Picture 47" descr="Reactor&#10;&#10;AI-generated content may be incorrect.">
            <a:extLst>
              <a:ext uri="{FF2B5EF4-FFF2-40B4-BE49-F238E27FC236}">
                <a16:creationId xmlns:a16="http://schemas.microsoft.com/office/drawing/2014/main" id="{7EF45085-DC21-77E9-B7D9-51C25DC680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The Episode 1 architecture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952500" y="4191000"/>
            <a:ext cx="2667000" cy="1143000"/>
            <a:chOff x="0" y="0"/>
            <a:chExt cx="3556000" cy="1524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56000" cy="1524000"/>
            </a:xfrm>
            <a:custGeom>
              <a:avLst/>
              <a:gdLst/>
              <a:ahLst/>
              <a:cxnLst/>
              <a:rect l="l" t="t" r="r" b="b"/>
              <a:pathLst>
                <a:path w="3556000" h="1524000">
                  <a:moveTo>
                    <a:pt x="45357" y="0"/>
                  </a:moveTo>
                  <a:lnTo>
                    <a:pt x="3510643" y="0"/>
                  </a:lnTo>
                  <a:cubicBezTo>
                    <a:pt x="3522672" y="0"/>
                    <a:pt x="3534209" y="4779"/>
                    <a:pt x="3542715" y="13285"/>
                  </a:cubicBezTo>
                  <a:cubicBezTo>
                    <a:pt x="3551221" y="21791"/>
                    <a:pt x="3556000" y="33328"/>
                    <a:pt x="3556000" y="45357"/>
                  </a:cubicBezTo>
                  <a:lnTo>
                    <a:pt x="3556000" y="1478643"/>
                  </a:lnTo>
                  <a:cubicBezTo>
                    <a:pt x="3556000" y="1490672"/>
                    <a:pt x="3551221" y="1502209"/>
                    <a:pt x="3542715" y="1510715"/>
                  </a:cubicBezTo>
                  <a:cubicBezTo>
                    <a:pt x="3534209" y="1519221"/>
                    <a:pt x="3522672" y="1524000"/>
                    <a:pt x="3510643" y="1524000"/>
                  </a:cubicBezTo>
                  <a:lnTo>
                    <a:pt x="45357" y="1524000"/>
                  </a:lnTo>
                  <a:cubicBezTo>
                    <a:pt x="33328" y="1524000"/>
                    <a:pt x="21791" y="1519221"/>
                    <a:pt x="13285" y="1510715"/>
                  </a:cubicBezTo>
                  <a:cubicBezTo>
                    <a:pt x="4779" y="1502209"/>
                    <a:pt x="0" y="1490672"/>
                    <a:pt x="0" y="1478643"/>
                  </a:cubicBezTo>
                  <a:lnTo>
                    <a:pt x="0" y="45357"/>
                  </a:lnTo>
                  <a:cubicBezTo>
                    <a:pt x="0" y="33328"/>
                    <a:pt x="4779" y="21791"/>
                    <a:pt x="13285" y="13285"/>
                  </a:cubicBezTo>
                  <a:cubicBezTo>
                    <a:pt x="21791" y="4779"/>
                    <a:pt x="33328" y="0"/>
                    <a:pt x="45357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3556000" cy="1514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BROWSER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user / web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3619500" y="4762500"/>
            <a:ext cx="2381250" cy="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6000750" y="3810000"/>
            <a:ext cx="4762500" cy="1905000"/>
            <a:chOff x="0" y="0"/>
            <a:chExt cx="6350000" cy="254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0" cy="2540000"/>
            </a:xfrm>
            <a:custGeom>
              <a:avLst/>
              <a:gdLst/>
              <a:ahLst/>
              <a:cxnLst/>
              <a:rect l="l" t="t" r="r" b="b"/>
              <a:pathLst>
                <a:path w="6350000" h="2540000">
                  <a:moveTo>
                    <a:pt x="25400" y="0"/>
                  </a:moveTo>
                  <a:lnTo>
                    <a:pt x="6324600" y="0"/>
                  </a:lnTo>
                  <a:cubicBezTo>
                    <a:pt x="6338628" y="0"/>
                    <a:pt x="6350000" y="11372"/>
                    <a:pt x="6350000" y="25400"/>
                  </a:cubicBezTo>
                  <a:lnTo>
                    <a:pt x="6350000" y="2514600"/>
                  </a:lnTo>
                  <a:cubicBezTo>
                    <a:pt x="6350000" y="2528628"/>
                    <a:pt x="6338628" y="2540000"/>
                    <a:pt x="6324600" y="2540000"/>
                  </a:cubicBezTo>
                  <a:lnTo>
                    <a:pt x="25400" y="2540000"/>
                  </a:lnTo>
                  <a:cubicBezTo>
                    <a:pt x="11372" y="2540000"/>
                    <a:pt x="0" y="2528628"/>
                    <a:pt x="0" y="25146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078D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6350000" cy="2530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CONTAINER APPS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web/API + agent logic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858000" y="2095500"/>
            <a:ext cx="3048000" cy="952500"/>
            <a:chOff x="0" y="0"/>
            <a:chExt cx="4064000" cy="127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064000" cy="1270000"/>
            </a:xfrm>
            <a:custGeom>
              <a:avLst/>
              <a:gdLst/>
              <a:ahLst/>
              <a:cxnLst/>
              <a:rect l="l" t="t" r="r" b="b"/>
              <a:pathLst>
                <a:path w="4064000" h="1270000">
                  <a:moveTo>
                    <a:pt x="39688" y="0"/>
                  </a:moveTo>
                  <a:lnTo>
                    <a:pt x="4024312" y="0"/>
                  </a:lnTo>
                  <a:cubicBezTo>
                    <a:pt x="4046231" y="0"/>
                    <a:pt x="4064000" y="17769"/>
                    <a:pt x="4064000" y="39688"/>
                  </a:cubicBezTo>
                  <a:lnTo>
                    <a:pt x="4064000" y="1230312"/>
                  </a:lnTo>
                  <a:cubicBezTo>
                    <a:pt x="4064000" y="1252231"/>
                    <a:pt x="4046231" y="1270000"/>
                    <a:pt x="4024312" y="1270000"/>
                  </a:cubicBezTo>
                  <a:lnTo>
                    <a:pt x="39688" y="1270000"/>
                  </a:lnTo>
                  <a:cubicBezTo>
                    <a:pt x="17769" y="1270000"/>
                    <a:pt x="0" y="1252231"/>
                    <a:pt x="0" y="1230312"/>
                  </a:cubicBezTo>
                  <a:lnTo>
                    <a:pt x="0" y="39688"/>
                  </a:lnTo>
                  <a:cubicBezTo>
                    <a:pt x="0" y="17769"/>
                    <a:pt x="17769" y="0"/>
                    <a:pt x="39688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9525"/>
              <a:ext cx="4064000" cy="1260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FOUNDRY</a:t>
              </a:r>
            </a:p>
          </p:txBody>
        </p:sp>
      </p:grpSp>
      <p:sp>
        <p:nvSpPr>
          <p:cNvPr id="18" name="AutoShape 18"/>
          <p:cNvSpPr/>
          <p:nvPr/>
        </p:nvSpPr>
        <p:spPr>
          <a:xfrm flipV="1">
            <a:off x="8382000" y="3048000"/>
            <a:ext cx="0" cy="76200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9" name="Group 19"/>
          <p:cNvGrpSpPr/>
          <p:nvPr/>
        </p:nvGrpSpPr>
        <p:grpSpPr>
          <a:xfrm>
            <a:off x="6858000" y="6667500"/>
            <a:ext cx="3048000" cy="1047750"/>
            <a:chOff x="0" y="0"/>
            <a:chExt cx="4064000" cy="1397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064000" cy="1397000"/>
            </a:xfrm>
            <a:custGeom>
              <a:avLst/>
              <a:gdLst/>
              <a:ahLst/>
              <a:cxnLst/>
              <a:rect l="l" t="t" r="r" b="b"/>
              <a:pathLst>
                <a:path w="4064000" h="1397000">
                  <a:moveTo>
                    <a:pt x="39688" y="0"/>
                  </a:moveTo>
                  <a:lnTo>
                    <a:pt x="4024312" y="0"/>
                  </a:lnTo>
                  <a:cubicBezTo>
                    <a:pt x="4046231" y="0"/>
                    <a:pt x="4064000" y="17769"/>
                    <a:pt x="4064000" y="39688"/>
                  </a:cubicBezTo>
                  <a:lnTo>
                    <a:pt x="4064000" y="1357312"/>
                  </a:lnTo>
                  <a:cubicBezTo>
                    <a:pt x="4064000" y="1379231"/>
                    <a:pt x="4046231" y="1397000"/>
                    <a:pt x="4024312" y="1397000"/>
                  </a:cubicBezTo>
                  <a:lnTo>
                    <a:pt x="39688" y="1397000"/>
                  </a:lnTo>
                  <a:cubicBezTo>
                    <a:pt x="17769" y="1397000"/>
                    <a:pt x="0" y="1379231"/>
                    <a:pt x="0" y="1357312"/>
                  </a:cubicBezTo>
                  <a:lnTo>
                    <a:pt x="0" y="39688"/>
                  </a:lnTo>
                  <a:cubicBezTo>
                    <a:pt x="0" y="17769"/>
                    <a:pt x="17769" y="0"/>
                    <a:pt x="39688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9525"/>
              <a:ext cx="4064000" cy="1387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6 READ-ONLY TOOLS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Cosmos DB + AI Search</a:t>
              </a:r>
            </a:p>
          </p:txBody>
        </p:sp>
      </p:grpSp>
      <p:sp>
        <p:nvSpPr>
          <p:cNvPr id="22" name="AutoShape 22"/>
          <p:cNvSpPr/>
          <p:nvPr/>
        </p:nvSpPr>
        <p:spPr>
          <a:xfrm>
            <a:off x="8382000" y="5715000"/>
            <a:ext cx="0" cy="95250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3" name="Group 23"/>
          <p:cNvGrpSpPr/>
          <p:nvPr/>
        </p:nvGrpSpPr>
        <p:grpSpPr>
          <a:xfrm>
            <a:off x="12668250" y="3714750"/>
            <a:ext cx="4095750" cy="2095500"/>
            <a:chOff x="0" y="0"/>
            <a:chExt cx="5461000" cy="2794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461000" cy="2794000"/>
            </a:xfrm>
            <a:custGeom>
              <a:avLst/>
              <a:gdLst/>
              <a:ahLst/>
              <a:cxnLst/>
              <a:rect l="l" t="t" r="r" b="b"/>
              <a:pathLst>
                <a:path w="5461000" h="2794000">
                  <a:moveTo>
                    <a:pt x="29535" y="0"/>
                  </a:moveTo>
                  <a:lnTo>
                    <a:pt x="5431465" y="0"/>
                  </a:lnTo>
                  <a:cubicBezTo>
                    <a:pt x="5447777" y="0"/>
                    <a:pt x="5461000" y="13223"/>
                    <a:pt x="5461000" y="29535"/>
                  </a:cubicBezTo>
                  <a:lnTo>
                    <a:pt x="5461000" y="2764465"/>
                  </a:lnTo>
                  <a:cubicBezTo>
                    <a:pt x="5461000" y="2780777"/>
                    <a:pt x="5447777" y="2794000"/>
                    <a:pt x="5431465" y="2794000"/>
                  </a:cubicBezTo>
                  <a:lnTo>
                    <a:pt x="29535" y="2794000"/>
                  </a:lnTo>
                  <a:cubicBezTo>
                    <a:pt x="13223" y="2794000"/>
                    <a:pt x="0" y="2780777"/>
                    <a:pt x="0" y="2764465"/>
                  </a:cubicBezTo>
                  <a:lnTo>
                    <a:pt x="0" y="29535"/>
                  </a:lnTo>
                  <a:cubicBezTo>
                    <a:pt x="0" y="13223"/>
                    <a:pt x="13223" y="0"/>
                    <a:pt x="29535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9525"/>
              <a:ext cx="5461000" cy="2784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EPISODE 2+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workflow · approval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execution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3714750" y="4257675"/>
            <a:ext cx="219075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STREAMING RESPONSE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382250" y="2828925"/>
            <a:ext cx="5715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BACKEND AUTHENTICATION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08/21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4" name="Picture 43" descr="Reactor&#10;&#10;AI-generated content may be incorrect.">
            <a:extLst>
              <a:ext uri="{FF2B5EF4-FFF2-40B4-BE49-F238E27FC236}">
                <a16:creationId xmlns:a16="http://schemas.microsoft.com/office/drawing/2014/main" id="{D34D0B2E-F3A9-2992-51F8-3F9EDC0BA0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The agent contract defines its responsibilities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143000" y="2381250"/>
            <a:ext cx="4953000" cy="2000250"/>
            <a:chOff x="0" y="0"/>
            <a:chExt cx="6604000" cy="266700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604000" cy="2667000"/>
              <a:chOff x="0" y="0"/>
              <a:chExt cx="6604000" cy="2667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6040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6604000" h="2667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6040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101600" cy="2667000"/>
              <a:chOff x="0" y="0"/>
              <a:chExt cx="101600" cy="2667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016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667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1016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431800" y="292100"/>
              <a:ext cx="574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INPUTS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800" y="971550"/>
              <a:ext cx="5740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Structured incident report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72250" y="2381250"/>
            <a:ext cx="4953000" cy="2000250"/>
            <a:chOff x="0" y="0"/>
            <a:chExt cx="6604000" cy="26670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6604000" cy="2667000"/>
              <a:chOff x="0" y="0"/>
              <a:chExt cx="6604000" cy="26670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66040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6604000" h="2667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66040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101600" cy="2667000"/>
              <a:chOff x="0" y="0"/>
              <a:chExt cx="101600" cy="2667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016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667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016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31800" y="292100"/>
              <a:ext cx="574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RESPONSIBILITIES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31800" y="971550"/>
              <a:ext cx="5740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Triage processing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001500" y="2381250"/>
            <a:ext cx="4953000" cy="2000250"/>
            <a:chOff x="0" y="0"/>
            <a:chExt cx="6604000" cy="2667000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6604000" cy="2667000"/>
              <a:chOff x="0" y="0"/>
              <a:chExt cx="6604000" cy="26670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66040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6604000" h="2667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66040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0" y="0"/>
              <a:ext cx="101600" cy="2667000"/>
              <a:chOff x="0" y="0"/>
              <a:chExt cx="101600" cy="26670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016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667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016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31800" y="292100"/>
              <a:ext cx="574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TOOLS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1800" y="971550"/>
              <a:ext cx="5740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Approved read-only capabilities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43000" y="4953000"/>
            <a:ext cx="4953000" cy="2000250"/>
            <a:chOff x="0" y="0"/>
            <a:chExt cx="6604000" cy="2667000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6604000" cy="2667000"/>
              <a:chOff x="0" y="0"/>
              <a:chExt cx="6604000" cy="26670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66040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6604000" h="2667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66040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0" y="0"/>
              <a:ext cx="101600" cy="2667000"/>
              <a:chOff x="0" y="0"/>
              <a:chExt cx="101600" cy="26670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1016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667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1016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42" name="TextBox 42"/>
            <p:cNvSpPr txBox="1"/>
            <p:nvPr/>
          </p:nvSpPr>
          <p:spPr>
            <a:xfrm>
              <a:off x="431800" y="292100"/>
              <a:ext cx="574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OUTPUTS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31800" y="971550"/>
              <a:ext cx="5740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Structured triage result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572250" y="4953000"/>
            <a:ext cx="4953000" cy="2000250"/>
            <a:chOff x="0" y="0"/>
            <a:chExt cx="6604000" cy="2667000"/>
          </a:xfrm>
        </p:grpSpPr>
        <p:grpSp>
          <p:nvGrpSpPr>
            <p:cNvPr id="45" name="Group 45"/>
            <p:cNvGrpSpPr/>
            <p:nvPr/>
          </p:nvGrpSpPr>
          <p:grpSpPr>
            <a:xfrm>
              <a:off x="0" y="0"/>
              <a:ext cx="6604000" cy="2667000"/>
              <a:chOff x="0" y="0"/>
              <a:chExt cx="6604000" cy="26670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66040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6604000" h="2667000">
                    <a:moveTo>
                      <a:pt x="0" y="0"/>
                    </a:moveTo>
                    <a:lnTo>
                      <a:pt x="6604000" y="0"/>
                    </a:lnTo>
                    <a:lnTo>
                      <a:pt x="66040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38100"/>
                <a:ext cx="66040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0" y="0"/>
              <a:ext cx="101600" cy="2667000"/>
              <a:chOff x="0" y="0"/>
              <a:chExt cx="101600" cy="26670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016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667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667000"/>
                    </a:lnTo>
                    <a:lnTo>
                      <a:pt x="0" y="2667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101600" cy="2705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431800" y="292100"/>
              <a:ext cx="5740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FAILURE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31800" y="971550"/>
              <a:ext cx="5740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Typed error response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2001500" y="7581900"/>
            <a:ext cx="5143500" cy="339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5"/>
              </a:lnSpc>
            </a:pPr>
            <a:r>
              <a:rPr lang="en-US" sz="2025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PRODUCTION WRITES EXCLUDED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55" name="TextBox 55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09/21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70" name="Picture 69" descr="Reactor&#10;&#10;AI-generated content may be incorrect.">
            <a:extLst>
              <a:ext uri="{FF2B5EF4-FFF2-40B4-BE49-F238E27FC236}">
                <a16:creationId xmlns:a16="http://schemas.microsoft.com/office/drawing/2014/main" id="{C16EC761-80AF-5E71-FA7D-B2042B8B8E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Typed tools make capabilities inspectable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238250" y="2381250"/>
            <a:ext cx="8572500" cy="5619750"/>
            <a:chOff x="0" y="0"/>
            <a:chExt cx="11430000" cy="7493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430000" cy="7493000"/>
            </a:xfrm>
            <a:custGeom>
              <a:avLst/>
              <a:gdLst/>
              <a:ahLst/>
              <a:cxnLst/>
              <a:rect l="l" t="t" r="r" b="b"/>
              <a:pathLst>
                <a:path w="11430000" h="7493000">
                  <a:moveTo>
                    <a:pt x="0" y="0"/>
                  </a:moveTo>
                  <a:lnTo>
                    <a:pt x="11430000" y="0"/>
                  </a:lnTo>
                  <a:lnTo>
                    <a:pt x="11430000" y="7493000"/>
                  </a:lnTo>
                  <a:lnTo>
                    <a:pt x="0" y="74930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430000" cy="7531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809750" y="2828925"/>
            <a:ext cx="7239000" cy="548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9"/>
              </a:lnSpc>
            </a:pPr>
            <a:r>
              <a:rPr lang="en-US" sz="31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compute_blast_radius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09750" y="3686175"/>
            <a:ext cx="7239000" cy="3658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INPUT</a:t>
            </a: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service_id (the suspected cause)</a:t>
            </a:r>
          </a:p>
          <a:p>
            <a:pPr algn="l">
              <a:lnSpc>
                <a:spcPts val="2632"/>
              </a:lnSpc>
            </a:pPr>
            <a:endParaRPr lang="en-US" sz="1950">
              <a:solidFill>
                <a:srgbClr val="17253D"/>
              </a:solidFill>
              <a:latin typeface="Segoe UI"/>
              <a:ea typeface="Segoe UI"/>
              <a:cs typeface="Segoe UI"/>
              <a:sym typeface="Segoe UI"/>
            </a:endParaRP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OUTPUT</a:t>
            </a: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every dependent service, with its tier</a:t>
            </a:r>
          </a:p>
          <a:p>
            <a:pPr algn="l">
              <a:lnSpc>
                <a:spcPts val="2632"/>
              </a:lnSpc>
            </a:pPr>
            <a:endParaRPr lang="en-US" sz="1950">
              <a:solidFill>
                <a:srgbClr val="17253D"/>
              </a:solidFill>
              <a:latin typeface="Segoe UI"/>
              <a:ea typeface="Segoe UI"/>
              <a:cs typeface="Segoe UI"/>
              <a:sym typeface="Segoe UI"/>
            </a:endParaRP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BEHAVIOR</a:t>
            </a: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read-only, explicit timeout</a:t>
            </a:r>
          </a:p>
          <a:p>
            <a:pPr algn="l">
              <a:lnSpc>
                <a:spcPts val="2632"/>
              </a:lnSpc>
            </a:pPr>
            <a:endParaRPr lang="en-US" sz="1950">
              <a:solidFill>
                <a:srgbClr val="17253D"/>
              </a:solidFill>
              <a:latin typeface="Segoe UI"/>
              <a:ea typeface="Segoe UI"/>
              <a:cs typeface="Segoe UI"/>
              <a:sym typeface="Segoe UI"/>
            </a:endParaRP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FAILURE</a:t>
            </a:r>
          </a:p>
          <a:p>
            <a:pPr algn="l">
              <a:lnSpc>
                <a:spcPts val="2632"/>
              </a:lnSpc>
            </a:pPr>
            <a:r>
              <a:rPr lang="en-US" sz="195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typed ToolFailure - never an exception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049000" y="3581400"/>
            <a:ext cx="571500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Six read-only tools: lookup_service, get_incident, search_knowledge, get_recent_changes, get_telemetry, compute_blast_radius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68000" y="5314950"/>
            <a:ext cx="6477000" cy="326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2"/>
              </a:lnSpc>
            </a:pPr>
            <a:r>
              <a:rPr lang="en-US" sz="2025">
                <a:solidFill>
                  <a:srgbClr val="2A446F"/>
                </a:solidFill>
                <a:latin typeface="Segoe UI"/>
                <a:ea typeface="Segoe UI"/>
                <a:cs typeface="Segoe UI"/>
                <a:sym typeface="Segoe UI"/>
              </a:rPr>
              <a:t>Validate input. Authorize explicitly. Return a typed result.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11/21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31" name="Picture 30" descr="Reactor&#10;&#10;AI-generated content may be incorrect.">
            <a:extLst>
              <a:ext uri="{FF2B5EF4-FFF2-40B4-BE49-F238E27FC236}">
                <a16:creationId xmlns:a16="http://schemas.microsoft.com/office/drawing/2014/main" id="{2881FCC8-8966-59ED-BB53-6AB6CBF6AF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Evidence supports the triage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238250" y="2667000"/>
            <a:ext cx="3429000" cy="1047750"/>
            <a:chOff x="0" y="0"/>
            <a:chExt cx="4572000" cy="1397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572000" cy="1397000"/>
            </a:xfrm>
            <a:custGeom>
              <a:avLst/>
              <a:gdLst/>
              <a:ahLst/>
              <a:cxnLst/>
              <a:rect l="l" t="t" r="r" b="b"/>
              <a:pathLst>
                <a:path w="4572000" h="1397000">
                  <a:moveTo>
                    <a:pt x="35278" y="0"/>
                  </a:moveTo>
                  <a:lnTo>
                    <a:pt x="4536722" y="0"/>
                  </a:lnTo>
                  <a:cubicBezTo>
                    <a:pt x="4556206" y="0"/>
                    <a:pt x="4572000" y="15794"/>
                    <a:pt x="4572000" y="35278"/>
                  </a:cubicBezTo>
                  <a:lnTo>
                    <a:pt x="4572000" y="1361722"/>
                  </a:lnTo>
                  <a:cubicBezTo>
                    <a:pt x="4572000" y="1381206"/>
                    <a:pt x="4556206" y="1397000"/>
                    <a:pt x="4536722" y="1397000"/>
                  </a:cubicBezTo>
                  <a:lnTo>
                    <a:pt x="35278" y="1397000"/>
                  </a:lnTo>
                  <a:cubicBezTo>
                    <a:pt x="15794" y="1397000"/>
                    <a:pt x="0" y="1381206"/>
                    <a:pt x="0" y="1361722"/>
                  </a:cubicBezTo>
                  <a:lnTo>
                    <a:pt x="0" y="35278"/>
                  </a:lnTo>
                  <a:cubicBezTo>
                    <a:pt x="0" y="15794"/>
                    <a:pt x="15794" y="0"/>
                    <a:pt x="35278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4572000" cy="1387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INCIDENT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REPORT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4667250" y="3190875"/>
            <a:ext cx="2952750" cy="1666875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1238250" y="4381500"/>
            <a:ext cx="3429000" cy="1047750"/>
            <a:chOff x="0" y="0"/>
            <a:chExt cx="4572000" cy="1397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72000" cy="1397000"/>
            </a:xfrm>
            <a:custGeom>
              <a:avLst/>
              <a:gdLst/>
              <a:ahLst/>
              <a:cxnLst/>
              <a:rect l="l" t="t" r="r" b="b"/>
              <a:pathLst>
                <a:path w="4572000" h="1397000">
                  <a:moveTo>
                    <a:pt x="35278" y="0"/>
                  </a:moveTo>
                  <a:lnTo>
                    <a:pt x="4536722" y="0"/>
                  </a:lnTo>
                  <a:cubicBezTo>
                    <a:pt x="4556206" y="0"/>
                    <a:pt x="4572000" y="15794"/>
                    <a:pt x="4572000" y="35278"/>
                  </a:cubicBezTo>
                  <a:lnTo>
                    <a:pt x="4572000" y="1361722"/>
                  </a:lnTo>
                  <a:cubicBezTo>
                    <a:pt x="4572000" y="1381206"/>
                    <a:pt x="4556206" y="1397000"/>
                    <a:pt x="4536722" y="1397000"/>
                  </a:cubicBezTo>
                  <a:lnTo>
                    <a:pt x="35278" y="1397000"/>
                  </a:lnTo>
                  <a:cubicBezTo>
                    <a:pt x="15794" y="1397000"/>
                    <a:pt x="0" y="1381206"/>
                    <a:pt x="0" y="1361722"/>
                  </a:cubicBezTo>
                  <a:lnTo>
                    <a:pt x="0" y="35278"/>
                  </a:lnTo>
                  <a:cubicBezTo>
                    <a:pt x="0" y="15794"/>
                    <a:pt x="15794" y="0"/>
                    <a:pt x="35278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4572000" cy="1387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RUNBOOK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AI Search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4667250" y="4857750"/>
            <a:ext cx="2952750" cy="47625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1238250" y="6096000"/>
            <a:ext cx="3429000" cy="1047750"/>
            <a:chOff x="0" y="0"/>
            <a:chExt cx="4572000" cy="1397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572000" cy="1397000"/>
            </a:xfrm>
            <a:custGeom>
              <a:avLst/>
              <a:gdLst/>
              <a:ahLst/>
              <a:cxnLst/>
              <a:rect l="l" t="t" r="r" b="b"/>
              <a:pathLst>
                <a:path w="4572000" h="1397000">
                  <a:moveTo>
                    <a:pt x="35278" y="0"/>
                  </a:moveTo>
                  <a:lnTo>
                    <a:pt x="4536722" y="0"/>
                  </a:lnTo>
                  <a:cubicBezTo>
                    <a:pt x="4556206" y="0"/>
                    <a:pt x="4572000" y="15794"/>
                    <a:pt x="4572000" y="35278"/>
                  </a:cubicBezTo>
                  <a:lnTo>
                    <a:pt x="4572000" y="1361722"/>
                  </a:lnTo>
                  <a:cubicBezTo>
                    <a:pt x="4572000" y="1381206"/>
                    <a:pt x="4556206" y="1397000"/>
                    <a:pt x="4536722" y="1397000"/>
                  </a:cubicBezTo>
                  <a:lnTo>
                    <a:pt x="35278" y="1397000"/>
                  </a:lnTo>
                  <a:cubicBezTo>
                    <a:pt x="15794" y="1397000"/>
                    <a:pt x="0" y="1381206"/>
                    <a:pt x="0" y="1361722"/>
                  </a:cubicBezTo>
                  <a:lnTo>
                    <a:pt x="0" y="35278"/>
                  </a:lnTo>
                  <a:cubicBezTo>
                    <a:pt x="0" y="15794"/>
                    <a:pt x="15794" y="0"/>
                    <a:pt x="35278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525"/>
              <a:ext cx="4572000" cy="1387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TELEMETRY +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CHANGE HISTORY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 flipV="1">
            <a:off x="4667250" y="4857750"/>
            <a:ext cx="2952750" cy="1762125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620000" y="3905250"/>
            <a:ext cx="4095750" cy="1905000"/>
            <a:chOff x="0" y="0"/>
            <a:chExt cx="5461000" cy="2540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61000" cy="2540000"/>
            </a:xfrm>
            <a:custGeom>
              <a:avLst/>
              <a:gdLst/>
              <a:ahLst/>
              <a:cxnLst/>
              <a:rect l="l" t="t" r="r" b="b"/>
              <a:pathLst>
                <a:path w="5461000" h="2540000">
                  <a:moveTo>
                    <a:pt x="29535" y="0"/>
                  </a:moveTo>
                  <a:lnTo>
                    <a:pt x="5431465" y="0"/>
                  </a:lnTo>
                  <a:cubicBezTo>
                    <a:pt x="5447777" y="0"/>
                    <a:pt x="5461000" y="13223"/>
                    <a:pt x="5461000" y="29535"/>
                  </a:cubicBezTo>
                  <a:lnTo>
                    <a:pt x="5461000" y="2510465"/>
                  </a:lnTo>
                  <a:cubicBezTo>
                    <a:pt x="5461000" y="2526777"/>
                    <a:pt x="5447777" y="2540000"/>
                    <a:pt x="5431465" y="2540000"/>
                  </a:cubicBezTo>
                  <a:lnTo>
                    <a:pt x="29535" y="2540000"/>
                  </a:lnTo>
                  <a:cubicBezTo>
                    <a:pt x="13223" y="2540000"/>
                    <a:pt x="0" y="2526777"/>
                    <a:pt x="0" y="2510465"/>
                  </a:cubicBezTo>
                  <a:lnTo>
                    <a:pt x="0" y="29535"/>
                  </a:lnTo>
                  <a:cubicBezTo>
                    <a:pt x="0" y="13223"/>
                    <a:pt x="13223" y="0"/>
                    <a:pt x="29535" y="0"/>
                  </a:cubicBezTo>
                  <a:close/>
                </a:path>
              </a:pathLst>
            </a:custGeom>
            <a:solidFill>
              <a:srgbClr val="0078D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9525"/>
              <a:ext cx="5461000" cy="2530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TRIAGE RESULT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with citations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1715750" y="4857750"/>
            <a:ext cx="2381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4" name="Group 24"/>
          <p:cNvGrpSpPr/>
          <p:nvPr/>
        </p:nvGrpSpPr>
        <p:grpSpPr>
          <a:xfrm>
            <a:off x="14097000" y="4191000"/>
            <a:ext cx="2857500" cy="1333500"/>
            <a:chOff x="0" y="0"/>
            <a:chExt cx="3810000" cy="1778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810000" cy="1778000"/>
            </a:xfrm>
            <a:custGeom>
              <a:avLst/>
              <a:gdLst/>
              <a:ahLst/>
              <a:cxnLst/>
              <a:rect l="l" t="t" r="r" b="b"/>
              <a:pathLst>
                <a:path w="3810000" h="1778000">
                  <a:moveTo>
                    <a:pt x="42333" y="0"/>
                  </a:moveTo>
                  <a:lnTo>
                    <a:pt x="3767667" y="0"/>
                  </a:lnTo>
                  <a:cubicBezTo>
                    <a:pt x="3778894" y="0"/>
                    <a:pt x="3789662" y="4460"/>
                    <a:pt x="3797601" y="12399"/>
                  </a:cubicBezTo>
                  <a:cubicBezTo>
                    <a:pt x="3805540" y="20338"/>
                    <a:pt x="3810000" y="31106"/>
                    <a:pt x="3810000" y="42333"/>
                  </a:cubicBezTo>
                  <a:lnTo>
                    <a:pt x="3810000" y="1735667"/>
                  </a:lnTo>
                  <a:cubicBezTo>
                    <a:pt x="3810000" y="1746894"/>
                    <a:pt x="3805540" y="1757662"/>
                    <a:pt x="3797601" y="1765601"/>
                  </a:cubicBezTo>
                  <a:cubicBezTo>
                    <a:pt x="3789662" y="1773540"/>
                    <a:pt x="3778894" y="1778000"/>
                    <a:pt x="3767667" y="1778000"/>
                  </a:cubicBezTo>
                  <a:lnTo>
                    <a:pt x="42333" y="1778000"/>
                  </a:lnTo>
                  <a:cubicBezTo>
                    <a:pt x="31106" y="1778000"/>
                    <a:pt x="20338" y="1773540"/>
                    <a:pt x="12399" y="1765601"/>
                  </a:cubicBezTo>
                  <a:cubicBezTo>
                    <a:pt x="4460" y="1757662"/>
                    <a:pt x="0" y="1746894"/>
                    <a:pt x="0" y="1735667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9525"/>
              <a:ext cx="3810000" cy="1768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VERIFICATION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667500" y="7219950"/>
            <a:ext cx="952500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25"/>
              </a:lnSpc>
            </a:pPr>
            <a:r>
              <a:rPr lang="en-US" sz="225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Synthetic fixtures for the demo · model responses may vary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12/21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4" name="Picture 43" descr="Reactor&#10;&#10;AI-generated content may be incorrect.">
            <a:extLst>
              <a:ext uri="{FF2B5EF4-FFF2-40B4-BE49-F238E27FC236}">
                <a16:creationId xmlns:a16="http://schemas.microsoft.com/office/drawing/2014/main" id="{3253BB4B-EDB5-5ED5-6DF4-4DF2A6E420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819150"/>
            <a:ext cx="5715000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spc="132">
                <a:solidFill>
                  <a:srgbClr val="00A4EF"/>
                </a:solidFill>
                <a:latin typeface="Segoe UI"/>
                <a:ea typeface="Segoe UI"/>
                <a:cs typeface="Segoe UI"/>
                <a:sym typeface="Segoe UI"/>
              </a:rPr>
              <a:t>LIVE DEMO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400" y="1457325"/>
            <a:ext cx="10477500" cy="760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2"/>
              </a:lnSpc>
            </a:pPr>
            <a:r>
              <a:rPr lang="en-US" sz="555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From report to triage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2914650"/>
            <a:ext cx="15240000" cy="363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175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01  Submit incident     02  Inspect tool call     03  Inspect result + citations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13/21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25" name="Picture 24" descr="Reactor&#10;&#10;AI-generated content may be incorrect.">
            <a:extLst>
              <a:ext uri="{FF2B5EF4-FFF2-40B4-BE49-F238E27FC236}">
                <a16:creationId xmlns:a16="http://schemas.microsoft.com/office/drawing/2014/main" id="{7E4F7896-96F3-DEE0-9A54-7F46B7B294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  <p:pic>
        <p:nvPicPr>
          <p:cNvPr id="26" name="Picture 25" descr="ep1-slide12-this-app-tri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111" y="3480000"/>
            <a:ext cx="10577777" cy="5950000"/>
          </a:xfrm>
          <a:prstGeom prst="rect">
            <a:avLst/>
          </a:prstGeom>
          <a:ln w="12700">
            <a:solidFill>
              <a:srgbClr val="C8C6E6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Structured output supports the next workflow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238250" y="2571750"/>
            <a:ext cx="6667500" cy="4762500"/>
            <a:chOff x="0" y="0"/>
            <a:chExt cx="8890000" cy="635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890000" cy="6350000"/>
            </a:xfrm>
            <a:custGeom>
              <a:avLst/>
              <a:gdLst/>
              <a:ahLst/>
              <a:cxnLst/>
              <a:rect l="l" t="t" r="r" b="b"/>
              <a:pathLst>
                <a:path w="8890000" h="6350000">
                  <a:moveTo>
                    <a:pt x="0" y="0"/>
                  </a:moveTo>
                  <a:lnTo>
                    <a:pt x="8890000" y="0"/>
                  </a:lnTo>
                  <a:lnTo>
                    <a:pt x="8890000" y="6350000"/>
                  </a:lnTo>
                  <a:lnTo>
                    <a:pt x="0" y="63500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890000" cy="638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905000" y="3133725"/>
            <a:ext cx="5334000" cy="229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75"/>
              </a:lnSpc>
            </a:pPr>
            <a:r>
              <a:rPr lang="en-US" sz="21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severity          Sev2</a:t>
            </a:r>
          </a:p>
          <a:p>
            <a:pPr algn="l">
              <a:lnSpc>
                <a:spcPts val="3675"/>
              </a:lnSpc>
            </a:pPr>
            <a:r>
              <a:rPr lang="en-US" sz="21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suspected_change  CHG-2026-0873</a:t>
            </a:r>
          </a:p>
          <a:p>
            <a:pPr algn="l">
              <a:lnSpc>
                <a:spcPts val="3675"/>
              </a:lnSpc>
            </a:pPr>
            <a:r>
              <a:rPr lang="en-US" sz="21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citations         RB-0042, RB-0060</a:t>
            </a:r>
          </a:p>
          <a:p>
            <a:pPr algn="l">
              <a:lnSpc>
                <a:spcPts val="3675"/>
              </a:lnSpc>
            </a:pPr>
            <a:r>
              <a:rPr lang="en-US" sz="21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confidence        0.92</a:t>
            </a:r>
          </a:p>
          <a:p>
            <a:pPr algn="l">
              <a:lnSpc>
                <a:spcPts val="3675"/>
              </a:lnSpc>
            </a:pPr>
            <a:r>
              <a:rPr lang="en-US" sz="2100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needs_human       true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191750" y="2857500"/>
            <a:ext cx="5524500" cy="1143000"/>
            <a:chOff x="0" y="0"/>
            <a:chExt cx="7366000" cy="1524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366000" cy="1524000"/>
            </a:xfrm>
            <a:custGeom>
              <a:avLst/>
              <a:gdLst/>
              <a:ahLst/>
              <a:cxnLst/>
              <a:rect l="l" t="t" r="r" b="b"/>
              <a:pathLst>
                <a:path w="7366000" h="15240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1502103"/>
                  </a:lnTo>
                  <a:cubicBezTo>
                    <a:pt x="7366000" y="1507911"/>
                    <a:pt x="7363693" y="1513480"/>
                    <a:pt x="7359586" y="1517587"/>
                  </a:cubicBezTo>
                  <a:cubicBezTo>
                    <a:pt x="7355480" y="1521693"/>
                    <a:pt x="7349911" y="1524000"/>
                    <a:pt x="7344104" y="1524000"/>
                  </a:cubicBezTo>
                  <a:lnTo>
                    <a:pt x="21897" y="1524000"/>
                  </a:lnTo>
                  <a:cubicBezTo>
                    <a:pt x="16089" y="1524000"/>
                    <a:pt x="10520" y="1521693"/>
                    <a:pt x="6413" y="1517587"/>
                  </a:cubicBezTo>
                  <a:cubicBezTo>
                    <a:pt x="2307" y="1513480"/>
                    <a:pt x="0" y="1507911"/>
                    <a:pt x="0" y="15021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0078D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7366000" cy="1514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VALIDATION SUCCESS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191750" y="4762500"/>
            <a:ext cx="5524500" cy="1143000"/>
            <a:chOff x="0" y="0"/>
            <a:chExt cx="7366000" cy="1524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366000" cy="1524000"/>
            </a:xfrm>
            <a:custGeom>
              <a:avLst/>
              <a:gdLst/>
              <a:ahLst/>
              <a:cxnLst/>
              <a:rect l="l" t="t" r="r" b="b"/>
              <a:pathLst>
                <a:path w="7366000" h="15240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1502103"/>
                  </a:lnTo>
                  <a:cubicBezTo>
                    <a:pt x="7366000" y="1507911"/>
                    <a:pt x="7363693" y="1513480"/>
                    <a:pt x="7359586" y="1517587"/>
                  </a:cubicBezTo>
                  <a:cubicBezTo>
                    <a:pt x="7355480" y="1521693"/>
                    <a:pt x="7349911" y="1524000"/>
                    <a:pt x="7344104" y="1524000"/>
                  </a:cubicBezTo>
                  <a:lnTo>
                    <a:pt x="21897" y="1524000"/>
                  </a:lnTo>
                  <a:cubicBezTo>
                    <a:pt x="16089" y="1524000"/>
                    <a:pt x="10520" y="1521693"/>
                    <a:pt x="6413" y="1517587"/>
                  </a:cubicBezTo>
                  <a:cubicBezTo>
                    <a:pt x="2307" y="1513480"/>
                    <a:pt x="0" y="1507911"/>
                    <a:pt x="0" y="15021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9525"/>
              <a:ext cx="7366000" cy="1514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TYPED ERROR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525000" y="6648450"/>
            <a:ext cx="6667500" cy="300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7"/>
              </a:lnSpc>
            </a:pPr>
            <a:r>
              <a:rPr lang="en-US" sz="1875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Schema validation guarantees shape — not factual correctness.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14/21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35" name="Picture 34" descr="Reactor&#10;&#10;AI-generated content may be incorrect.">
            <a:extLst>
              <a:ext uri="{FF2B5EF4-FFF2-40B4-BE49-F238E27FC236}">
                <a16:creationId xmlns:a16="http://schemas.microsoft.com/office/drawing/2014/main" id="{889FCC97-ADF8-DD3B-DD19-E4D42DD95E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Live demo: one agent definition, two hosting paths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047750" y="2571750"/>
            <a:ext cx="7620000" cy="4572000"/>
            <a:chOff x="0" y="0"/>
            <a:chExt cx="10160000" cy="609600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160000" cy="6096000"/>
              <a:chOff x="0" y="0"/>
              <a:chExt cx="10160000" cy="6096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160000" cy="6096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00" h="6096000">
                    <a:moveTo>
                      <a:pt x="0" y="0"/>
                    </a:moveTo>
                    <a:lnTo>
                      <a:pt x="10160000" y="0"/>
                    </a:lnTo>
                    <a:lnTo>
                      <a:pt x="10160000" y="6096000"/>
                    </a:lnTo>
                    <a:lnTo>
                      <a:pt x="0" y="6096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10160000" cy="6134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101600" cy="6096000"/>
              <a:chOff x="0" y="0"/>
              <a:chExt cx="101600" cy="6096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01600" cy="6096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6096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6096000"/>
                    </a:lnTo>
                    <a:lnTo>
                      <a:pt x="0" y="6096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101600" cy="6134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431800" y="292100"/>
              <a:ext cx="9296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FOUNDRY-HOSTED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620250" y="2571750"/>
            <a:ext cx="7620000" cy="4572000"/>
            <a:chOff x="0" y="0"/>
            <a:chExt cx="10160000" cy="60960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0160000" cy="6096000"/>
              <a:chOff x="0" y="0"/>
              <a:chExt cx="10160000" cy="60960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0160000" cy="6096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00" h="6096000">
                    <a:moveTo>
                      <a:pt x="0" y="0"/>
                    </a:moveTo>
                    <a:lnTo>
                      <a:pt x="10160000" y="0"/>
                    </a:lnTo>
                    <a:lnTo>
                      <a:pt x="10160000" y="6096000"/>
                    </a:lnTo>
                    <a:lnTo>
                      <a:pt x="0" y="6096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0160000" cy="6134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101600" cy="6096000"/>
              <a:chOff x="0" y="0"/>
              <a:chExt cx="101600" cy="6096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01600" cy="6096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6096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6096000"/>
                    </a:lnTo>
                    <a:lnTo>
                      <a:pt x="0" y="6096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01600" cy="6134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31800" y="292100"/>
              <a:ext cx="9296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CONTAINER APPS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2857500" y="7981950"/>
            <a:ext cx="1257300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25"/>
              </a:lnSpc>
            </a:pPr>
            <a:r>
              <a:rPr lang="en-US" sz="2250">
                <a:solidFill>
                  <a:srgbClr val="2A446F"/>
                </a:solidFill>
                <a:latin typeface="Segoe UI"/>
                <a:ea typeface="Segoe UI"/>
                <a:cs typeface="Segoe UI"/>
                <a:sym typeface="Segoe UI"/>
              </a:rPr>
              <a:t>Same core agent package. Different endpoint and operational ownership.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8" name="TextBox 28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15/21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2" name="Picture 41" descr="ep1-slide14-hosted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750" y="3391750"/>
            <a:ext cx="6720000" cy="3780000"/>
          </a:xfrm>
          <a:prstGeom prst="rect">
            <a:avLst/>
          </a:prstGeom>
          <a:ln w="12700">
            <a:solidFill>
              <a:srgbClr val="C8C6E6"/>
            </a:solidFill>
          </a:ln>
        </p:spPr>
      </p:pic>
      <p:pic>
        <p:nvPicPr>
          <p:cNvPr id="43" name="Picture 42" descr="ep1-slide12-this-app-tri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0250" y="3391750"/>
            <a:ext cx="6720000" cy="3780000"/>
          </a:xfrm>
          <a:prstGeom prst="rect">
            <a:avLst/>
          </a:prstGeom>
          <a:ln w="12700">
            <a:solidFill>
              <a:srgbClr val="C8C6E6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 working triage still needs execution controls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952500" y="2762250"/>
            <a:ext cx="3333750" cy="1238250"/>
            <a:chOff x="0" y="0"/>
            <a:chExt cx="4445000" cy="1651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445000" cy="1651000"/>
            </a:xfrm>
            <a:custGeom>
              <a:avLst/>
              <a:gdLst/>
              <a:ahLst/>
              <a:cxnLst/>
              <a:rect l="l" t="t" r="r" b="b"/>
              <a:pathLst>
                <a:path w="4445000" h="1651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614714"/>
                  </a:lnTo>
                  <a:cubicBezTo>
                    <a:pt x="4445000" y="1634754"/>
                    <a:pt x="4428754" y="1651000"/>
                    <a:pt x="4408714" y="1651000"/>
                  </a:cubicBezTo>
                  <a:lnTo>
                    <a:pt x="36286" y="1651000"/>
                  </a:lnTo>
                  <a:cubicBezTo>
                    <a:pt x="16246" y="1651000"/>
                    <a:pt x="0" y="1634754"/>
                    <a:pt x="0" y="1614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4445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COORDINATED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SPECIALISTS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4286250" y="3381375"/>
            <a:ext cx="857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5238750" y="2762250"/>
            <a:ext cx="3333750" cy="1238250"/>
            <a:chOff x="0" y="0"/>
            <a:chExt cx="4445000" cy="1651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445000" cy="1651000"/>
            </a:xfrm>
            <a:custGeom>
              <a:avLst/>
              <a:gdLst/>
              <a:ahLst/>
              <a:cxnLst/>
              <a:rect l="l" t="t" r="r" b="b"/>
              <a:pathLst>
                <a:path w="4445000" h="1651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614714"/>
                  </a:lnTo>
                  <a:cubicBezTo>
                    <a:pt x="4445000" y="1634754"/>
                    <a:pt x="4428754" y="1651000"/>
                    <a:pt x="4408714" y="1651000"/>
                  </a:cubicBezTo>
                  <a:lnTo>
                    <a:pt x="36286" y="1651000"/>
                  </a:lnTo>
                  <a:cubicBezTo>
                    <a:pt x="16246" y="1651000"/>
                    <a:pt x="0" y="1634754"/>
                    <a:pt x="0" y="1614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4445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DURABLE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WORKFLOW STATE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8572500" y="3381375"/>
            <a:ext cx="857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9525000" y="2762250"/>
            <a:ext cx="3333750" cy="1238250"/>
            <a:chOff x="0" y="0"/>
            <a:chExt cx="4445000" cy="1651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45000" cy="1651000"/>
            </a:xfrm>
            <a:custGeom>
              <a:avLst/>
              <a:gdLst/>
              <a:ahLst/>
              <a:cxnLst/>
              <a:rect l="l" t="t" r="r" b="b"/>
              <a:pathLst>
                <a:path w="4445000" h="1651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614714"/>
                  </a:lnTo>
                  <a:cubicBezTo>
                    <a:pt x="4445000" y="1634754"/>
                    <a:pt x="4428754" y="1651000"/>
                    <a:pt x="4408714" y="1651000"/>
                  </a:cubicBezTo>
                  <a:lnTo>
                    <a:pt x="36286" y="1651000"/>
                  </a:lnTo>
                  <a:cubicBezTo>
                    <a:pt x="16246" y="1651000"/>
                    <a:pt x="0" y="1634754"/>
                    <a:pt x="0" y="1614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525"/>
              <a:ext cx="4445000" cy="164147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HUMAN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APPROVAL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12858750" y="3381375"/>
            <a:ext cx="857250" cy="0"/>
          </a:xfrm>
          <a:prstGeom prst="line">
            <a:avLst/>
          </a:prstGeom>
          <a:ln w="28575" cap="rnd">
            <a:solidFill>
              <a:srgbClr val="2A446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13811250" y="2762250"/>
            <a:ext cx="3333750" cy="1238250"/>
            <a:chOff x="0" y="0"/>
            <a:chExt cx="4445000" cy="1651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445000" cy="1651000"/>
            </a:xfrm>
            <a:custGeom>
              <a:avLst/>
              <a:gdLst/>
              <a:ahLst/>
              <a:cxnLst/>
              <a:rect l="l" t="t" r="r" b="b"/>
              <a:pathLst>
                <a:path w="4445000" h="1651000">
                  <a:moveTo>
                    <a:pt x="36286" y="0"/>
                  </a:moveTo>
                  <a:lnTo>
                    <a:pt x="4408714" y="0"/>
                  </a:lnTo>
                  <a:cubicBezTo>
                    <a:pt x="4428754" y="0"/>
                    <a:pt x="4445000" y="16246"/>
                    <a:pt x="4445000" y="36286"/>
                  </a:cubicBezTo>
                  <a:lnTo>
                    <a:pt x="4445000" y="1614714"/>
                  </a:lnTo>
                  <a:cubicBezTo>
                    <a:pt x="4445000" y="1634754"/>
                    <a:pt x="4428754" y="1651000"/>
                    <a:pt x="4408714" y="1651000"/>
                  </a:cubicBezTo>
                  <a:lnTo>
                    <a:pt x="36286" y="1651000"/>
                  </a:lnTo>
                  <a:cubicBezTo>
                    <a:pt x="16246" y="1651000"/>
                    <a:pt x="0" y="1634754"/>
                    <a:pt x="0" y="1614714"/>
                  </a:cubicBezTo>
                  <a:lnTo>
                    <a:pt x="0" y="36286"/>
                  </a:lnTo>
                  <a:cubicBezTo>
                    <a:pt x="0" y="16246"/>
                    <a:pt x="16246" y="0"/>
                    <a:pt x="36286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9525"/>
              <a:ext cx="4445000" cy="1641475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 dirty="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GOVERNED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 dirty="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DISPATCH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810250" y="5715000"/>
            <a:ext cx="6667500" cy="1619250"/>
            <a:chOff x="0" y="0"/>
            <a:chExt cx="8890000" cy="2159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890000" cy="2159000"/>
            </a:xfrm>
            <a:custGeom>
              <a:avLst/>
              <a:gdLst/>
              <a:ahLst/>
              <a:cxnLst/>
              <a:rect l="l" t="t" r="r" b="b"/>
              <a:pathLst>
                <a:path w="8890000" h="2159000">
                  <a:moveTo>
                    <a:pt x="18143" y="0"/>
                  </a:moveTo>
                  <a:lnTo>
                    <a:pt x="8871857" y="0"/>
                  </a:lnTo>
                  <a:cubicBezTo>
                    <a:pt x="8881877" y="0"/>
                    <a:pt x="8890000" y="8123"/>
                    <a:pt x="8890000" y="18143"/>
                  </a:cubicBezTo>
                  <a:lnTo>
                    <a:pt x="8890000" y="2140857"/>
                  </a:lnTo>
                  <a:cubicBezTo>
                    <a:pt x="8890000" y="2150877"/>
                    <a:pt x="8881877" y="2159000"/>
                    <a:pt x="8871857" y="2159000"/>
                  </a:cubicBezTo>
                  <a:lnTo>
                    <a:pt x="18143" y="2159000"/>
                  </a:lnTo>
                  <a:cubicBezTo>
                    <a:pt x="8123" y="2159000"/>
                    <a:pt x="0" y="2150877"/>
                    <a:pt x="0" y="2140857"/>
                  </a:cubicBezTo>
                  <a:lnTo>
                    <a:pt x="0" y="18143"/>
                  </a:lnTo>
                  <a:cubicBezTo>
                    <a:pt x="0" y="8123"/>
                    <a:pt x="8123" y="0"/>
                    <a:pt x="18143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9525"/>
              <a:ext cx="8890000" cy="2149475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 dirty="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AGENT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 dirty="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triage foundation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4762500" y="7962900"/>
            <a:ext cx="8763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NEXT: EPISODE 2 · CONTROLLED WORKFLOW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8" name="TextBox 28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16/21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3" name="Picture 42" descr="Reactor&#10;&#10;AI-generated content may be incorrect.">
            <a:extLst>
              <a:ext uri="{FF2B5EF4-FFF2-40B4-BE49-F238E27FC236}">
                <a16:creationId xmlns:a16="http://schemas.microsoft.com/office/drawing/2014/main" id="{B00FEE32-A0E3-45EC-AF14-1EE0E4713C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" y="666750"/>
            <a:ext cx="2266950" cy="752475"/>
          </a:xfrm>
          <a:custGeom>
            <a:avLst/>
            <a:gdLst/>
            <a:ahLst/>
            <a:cxnLst/>
            <a:rect l="l" t="t" r="r" b="b"/>
            <a:pathLst>
              <a:path w="2266950" h="752475">
                <a:moveTo>
                  <a:pt x="0" y="0"/>
                </a:moveTo>
                <a:lnTo>
                  <a:pt x="2266950" y="0"/>
                </a:lnTo>
                <a:lnTo>
                  <a:pt x="2266950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5" b="-85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2266950"/>
            <a:ext cx="9048750" cy="1484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2"/>
              </a:lnSpc>
            </a:pPr>
            <a:r>
              <a:rPr lang="en-US" sz="555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Your next step:</a:t>
            </a:r>
          </a:p>
          <a:p>
            <a:pPr algn="l">
              <a:lnSpc>
                <a:spcPts val="5772"/>
              </a:lnSpc>
            </a:pPr>
            <a:r>
              <a:rPr lang="en-US" sz="555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add one read-only tool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668000" y="2266950"/>
            <a:ext cx="6191250" cy="2019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240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Run the episode sample</a:t>
            </a:r>
          </a:p>
          <a:p>
            <a:pPr algn="l">
              <a:lnSpc>
                <a:spcPts val="4079"/>
              </a:lnSpc>
            </a:pPr>
            <a:r>
              <a:rPr lang="en-US" sz="240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Add a typed read-only tool</a:t>
            </a:r>
          </a:p>
          <a:p>
            <a:pPr algn="l">
              <a:lnSpc>
                <a:spcPts val="4079"/>
              </a:lnSpc>
            </a:pPr>
            <a:r>
              <a:rPr lang="en-US" sz="240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Validate output</a:t>
            </a:r>
          </a:p>
          <a:p>
            <a:pPr algn="l">
              <a:lnSpc>
                <a:spcPts val="4079"/>
              </a:lnSpc>
            </a:pPr>
            <a:r>
              <a:rPr lang="en-US" sz="240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Share implementation questions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6229350"/>
            <a:ext cx="9525000" cy="67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A4EF"/>
                </a:solidFill>
                <a:latin typeface="Segoe UI"/>
                <a:ea typeface="Segoe UI"/>
                <a:cs typeface="Segoe UI"/>
                <a:sym typeface="Segoe UI"/>
              </a:rPr>
              <a:t>Code and runbooks are published after the series.</a:t>
            </a:r>
          </a:p>
          <a:p>
            <a:pPr algn="l">
              <a:lnSpc>
                <a:spcPts val="2700"/>
              </a:lnSpc>
            </a:pPr>
            <a:r>
              <a:rPr lang="en-US" sz="1800">
                <a:solidFill>
                  <a:srgbClr val="00A4EF"/>
                </a:solidFill>
                <a:latin typeface="Segoe UI"/>
                <a:ea typeface="Segoe UI"/>
                <a:cs typeface="Segoe UI"/>
                <a:sym typeface="Segoe UI"/>
              </a:rPr>
              <a:t>Next: Episode 2 - Reliable Multi-Agent Systems, Thursday 18:00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8048625"/>
            <a:ext cx="12382500" cy="48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FFFFFF"/>
                </a:solidFill>
                <a:latin typeface="Segoe UI"/>
                <a:ea typeface="Segoe UI"/>
                <a:cs typeface="Segoe UI"/>
                <a:sym typeface="Segoe UI"/>
              </a:rPr>
              <a:t>Which hosting responsibility would you keep?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8" name="TextBox 8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17/21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23" name="Picture 22" descr="Reactor&#10;&#10;AI-generated content may be incorrect.">
            <a:extLst>
              <a:ext uri="{FF2B5EF4-FFF2-40B4-BE49-F238E27FC236}">
                <a16:creationId xmlns:a16="http://schemas.microsoft.com/office/drawing/2014/main" id="{BFDEB60C-7DFB-38A9-0774-C84856A1D4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Hosting decisions in more detail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952500" y="2190750"/>
            <a:ext cx="5143500" cy="666750"/>
            <a:chOff x="0" y="0"/>
            <a:chExt cx="6858000" cy="889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858000" cy="889000"/>
            </a:xfrm>
            <a:custGeom>
              <a:avLst/>
              <a:gdLst/>
              <a:ahLst/>
              <a:cxnLst/>
              <a:rect l="l" t="t" r="r" b="b"/>
              <a:pathLst>
                <a:path w="6858000" h="889000">
                  <a:moveTo>
                    <a:pt x="23519" y="0"/>
                  </a:moveTo>
                  <a:lnTo>
                    <a:pt x="6834481" y="0"/>
                  </a:lnTo>
                  <a:cubicBezTo>
                    <a:pt x="6840719" y="0"/>
                    <a:pt x="6846701" y="2478"/>
                    <a:pt x="6851111" y="6888"/>
                  </a:cubicBezTo>
                  <a:cubicBezTo>
                    <a:pt x="6855522" y="11299"/>
                    <a:pt x="6858000" y="17281"/>
                    <a:pt x="6858000" y="23519"/>
                  </a:cubicBezTo>
                  <a:lnTo>
                    <a:pt x="6858000" y="865481"/>
                  </a:lnTo>
                  <a:cubicBezTo>
                    <a:pt x="6858000" y="871719"/>
                    <a:pt x="6855522" y="877701"/>
                    <a:pt x="6851111" y="882112"/>
                  </a:cubicBezTo>
                  <a:cubicBezTo>
                    <a:pt x="6846701" y="886522"/>
                    <a:pt x="6840719" y="889000"/>
                    <a:pt x="6834481" y="889000"/>
                  </a:cubicBezTo>
                  <a:lnTo>
                    <a:pt x="23519" y="889000"/>
                  </a:lnTo>
                  <a:cubicBezTo>
                    <a:pt x="17281" y="889000"/>
                    <a:pt x="11299" y="886522"/>
                    <a:pt x="6888" y="882112"/>
                  </a:cubicBezTo>
                  <a:cubicBezTo>
                    <a:pt x="2478" y="877701"/>
                    <a:pt x="0" y="871719"/>
                    <a:pt x="0" y="865481"/>
                  </a:cubicBezTo>
                  <a:lnTo>
                    <a:pt x="0" y="23519"/>
                  </a:lnTo>
                  <a:cubicBezTo>
                    <a:pt x="0" y="17281"/>
                    <a:pt x="2478" y="11299"/>
                    <a:pt x="6888" y="6888"/>
                  </a:cubicBezTo>
                  <a:cubicBezTo>
                    <a:pt x="11299" y="2478"/>
                    <a:pt x="17281" y="0"/>
                    <a:pt x="23519" y="0"/>
                  </a:cubicBezTo>
                  <a:close/>
                </a:path>
              </a:pathLst>
            </a:custGeom>
            <a:solidFill>
              <a:srgbClr val="2A446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6858000" cy="87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DECISION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0" y="2190750"/>
            <a:ext cx="5524500" cy="666750"/>
            <a:chOff x="0" y="0"/>
            <a:chExt cx="7366000" cy="889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366000" cy="889000"/>
            </a:xfrm>
            <a:custGeom>
              <a:avLst/>
              <a:gdLst/>
              <a:ahLst/>
              <a:cxnLst/>
              <a:rect l="l" t="t" r="r" b="b"/>
              <a:pathLst>
                <a:path w="7366000" h="889000">
                  <a:moveTo>
                    <a:pt x="21897" y="0"/>
                  </a:moveTo>
                  <a:lnTo>
                    <a:pt x="7344104" y="0"/>
                  </a:lnTo>
                  <a:cubicBezTo>
                    <a:pt x="7349911" y="0"/>
                    <a:pt x="7355480" y="2307"/>
                    <a:pt x="7359586" y="6413"/>
                  </a:cubicBezTo>
                  <a:cubicBezTo>
                    <a:pt x="7363693" y="10520"/>
                    <a:pt x="7366000" y="16089"/>
                    <a:pt x="7366000" y="21897"/>
                  </a:cubicBezTo>
                  <a:lnTo>
                    <a:pt x="7366000" y="867103"/>
                  </a:lnTo>
                  <a:cubicBezTo>
                    <a:pt x="7366000" y="872911"/>
                    <a:pt x="7363693" y="878480"/>
                    <a:pt x="7359586" y="882587"/>
                  </a:cubicBezTo>
                  <a:cubicBezTo>
                    <a:pt x="7355480" y="886693"/>
                    <a:pt x="7349911" y="889000"/>
                    <a:pt x="7344104" y="889000"/>
                  </a:cubicBezTo>
                  <a:lnTo>
                    <a:pt x="21897" y="889000"/>
                  </a:lnTo>
                  <a:cubicBezTo>
                    <a:pt x="16089" y="889000"/>
                    <a:pt x="10520" y="886693"/>
                    <a:pt x="6413" y="882587"/>
                  </a:cubicBezTo>
                  <a:cubicBezTo>
                    <a:pt x="2307" y="878480"/>
                    <a:pt x="0" y="872911"/>
                    <a:pt x="0" y="867103"/>
                  </a:cubicBezTo>
                  <a:lnTo>
                    <a:pt x="0" y="21897"/>
                  </a:lnTo>
                  <a:cubicBezTo>
                    <a:pt x="0" y="16089"/>
                    <a:pt x="2307" y="10520"/>
                    <a:pt x="6413" y="6413"/>
                  </a:cubicBezTo>
                  <a:cubicBezTo>
                    <a:pt x="10520" y="2307"/>
                    <a:pt x="16089" y="0"/>
                    <a:pt x="21897" y="0"/>
                  </a:cubicBezTo>
                  <a:close/>
                </a:path>
              </a:pathLst>
            </a:custGeom>
            <a:solidFill>
              <a:srgbClr val="0078D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9525"/>
              <a:ext cx="7366000" cy="87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HOSTED AGENT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620500" y="2190750"/>
            <a:ext cx="5715000" cy="666750"/>
            <a:chOff x="0" y="0"/>
            <a:chExt cx="7620000" cy="889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620000" cy="889000"/>
            </a:xfrm>
            <a:custGeom>
              <a:avLst/>
              <a:gdLst/>
              <a:ahLst/>
              <a:cxnLst/>
              <a:rect l="l" t="t" r="r" b="b"/>
              <a:pathLst>
                <a:path w="7620000" h="889000">
                  <a:moveTo>
                    <a:pt x="21167" y="0"/>
                  </a:moveTo>
                  <a:lnTo>
                    <a:pt x="7598833" y="0"/>
                  </a:lnTo>
                  <a:cubicBezTo>
                    <a:pt x="7610523" y="0"/>
                    <a:pt x="7620000" y="9477"/>
                    <a:pt x="7620000" y="21167"/>
                  </a:cubicBezTo>
                  <a:lnTo>
                    <a:pt x="7620000" y="867833"/>
                  </a:lnTo>
                  <a:cubicBezTo>
                    <a:pt x="7620000" y="879523"/>
                    <a:pt x="7610523" y="889000"/>
                    <a:pt x="7598833" y="889000"/>
                  </a:cubicBezTo>
                  <a:lnTo>
                    <a:pt x="21167" y="889000"/>
                  </a:lnTo>
                  <a:cubicBezTo>
                    <a:pt x="9477" y="889000"/>
                    <a:pt x="0" y="879523"/>
                    <a:pt x="0" y="867833"/>
                  </a:cubicBezTo>
                  <a:lnTo>
                    <a:pt x="0" y="21167"/>
                  </a:lnTo>
                  <a:cubicBezTo>
                    <a:pt x="0" y="9477"/>
                    <a:pt x="9477" y="0"/>
                    <a:pt x="21167" y="0"/>
                  </a:cubicBezTo>
                  <a:close/>
                </a:path>
              </a:pathLst>
            </a:custGeom>
            <a:solidFill>
              <a:srgbClr val="2A446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9525"/>
              <a:ext cx="7620000" cy="879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FFFFFF"/>
                  </a:solidFill>
                  <a:latin typeface="Segoe UI"/>
                  <a:ea typeface="Segoe UI"/>
                  <a:cs typeface="Segoe UI"/>
                  <a:sym typeface="Segoe UI"/>
                </a:rPr>
                <a:t>CONTAINER APPS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2500" y="2952750"/>
            <a:ext cx="16383000" cy="1000125"/>
            <a:chOff x="0" y="0"/>
            <a:chExt cx="21844000" cy="13335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844000" cy="1333500"/>
            </a:xfrm>
            <a:custGeom>
              <a:avLst/>
              <a:gdLst/>
              <a:ahLst/>
              <a:cxnLst/>
              <a:rect l="l" t="t" r="r" b="b"/>
              <a:pathLst>
                <a:path w="21844000" h="1333500">
                  <a:moveTo>
                    <a:pt x="0" y="0"/>
                  </a:moveTo>
                  <a:lnTo>
                    <a:pt x="21844000" y="0"/>
                  </a:lnTo>
                  <a:lnTo>
                    <a:pt x="21844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1844000" cy="1371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2500" y="4143375"/>
            <a:ext cx="16383000" cy="1000125"/>
            <a:chOff x="0" y="0"/>
            <a:chExt cx="21844000" cy="13335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844000" cy="1333500"/>
            </a:xfrm>
            <a:custGeom>
              <a:avLst/>
              <a:gdLst/>
              <a:ahLst/>
              <a:cxnLst/>
              <a:rect l="l" t="t" r="r" b="b"/>
              <a:pathLst>
                <a:path w="21844000" h="1333500">
                  <a:moveTo>
                    <a:pt x="0" y="0"/>
                  </a:moveTo>
                  <a:lnTo>
                    <a:pt x="21844000" y="0"/>
                  </a:lnTo>
                  <a:lnTo>
                    <a:pt x="21844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21844000" cy="1371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2500" y="5334000"/>
            <a:ext cx="16383000" cy="1000125"/>
            <a:chOff x="0" y="0"/>
            <a:chExt cx="21844000" cy="13335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1844000" cy="1333500"/>
            </a:xfrm>
            <a:custGeom>
              <a:avLst/>
              <a:gdLst/>
              <a:ahLst/>
              <a:cxnLst/>
              <a:rect l="l" t="t" r="r" b="b"/>
              <a:pathLst>
                <a:path w="21844000" h="1333500">
                  <a:moveTo>
                    <a:pt x="0" y="0"/>
                  </a:moveTo>
                  <a:lnTo>
                    <a:pt x="21844000" y="0"/>
                  </a:lnTo>
                  <a:lnTo>
                    <a:pt x="21844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1844000" cy="1371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2500" y="6524625"/>
            <a:ext cx="16383000" cy="1000125"/>
            <a:chOff x="0" y="0"/>
            <a:chExt cx="21844000" cy="13335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844000" cy="1333500"/>
            </a:xfrm>
            <a:custGeom>
              <a:avLst/>
              <a:gdLst/>
              <a:ahLst/>
              <a:cxnLst/>
              <a:rect l="l" t="t" r="r" b="b"/>
              <a:pathLst>
                <a:path w="21844000" h="1333500">
                  <a:moveTo>
                    <a:pt x="0" y="0"/>
                  </a:moveTo>
                  <a:lnTo>
                    <a:pt x="21844000" y="0"/>
                  </a:lnTo>
                  <a:lnTo>
                    <a:pt x="21844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21844000" cy="1371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2500" y="7715250"/>
            <a:ext cx="16383000" cy="1000125"/>
            <a:chOff x="0" y="0"/>
            <a:chExt cx="21844000" cy="13335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1844000" cy="1333500"/>
            </a:xfrm>
            <a:custGeom>
              <a:avLst/>
              <a:gdLst/>
              <a:ahLst/>
              <a:cxnLst/>
              <a:rect l="l" t="t" r="r" b="b"/>
              <a:pathLst>
                <a:path w="21844000" h="1333500">
                  <a:moveTo>
                    <a:pt x="0" y="0"/>
                  </a:moveTo>
                  <a:lnTo>
                    <a:pt x="21844000" y="0"/>
                  </a:lnTo>
                  <a:lnTo>
                    <a:pt x="21844000" y="1333500"/>
                  </a:lnTo>
                  <a:lnTo>
                    <a:pt x="0" y="1333500"/>
                  </a:ln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1844000" cy="1371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90625" y="3200400"/>
            <a:ext cx="4667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Application endpoint ownership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34125" y="3200400"/>
            <a:ext cx="5048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Managed service endpoint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858625" y="3200400"/>
            <a:ext cx="52387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Application-owned endpoint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90625" y="4391025"/>
            <a:ext cx="4667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Container ownership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334125" y="4391025"/>
            <a:ext cx="5048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Managed runtime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858625" y="4391025"/>
            <a:ext cx="52387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Team-owned container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90625" y="5581650"/>
            <a:ext cx="4667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State responsibility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34125" y="5581650"/>
            <a:ext cx="5048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Service capabilities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858625" y="5581650"/>
            <a:ext cx="52387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Application design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90625" y="6772275"/>
            <a:ext cx="4667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Deployment / versioning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34125" y="6772275"/>
            <a:ext cx="5048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Managed definition lifecycle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858625" y="6772275"/>
            <a:ext cx="52387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Team pipeline + image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90625" y="7962900"/>
            <a:ext cx="4667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Operational controls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34125" y="7962900"/>
            <a:ext cx="50482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Service + tenant policy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858625" y="7962900"/>
            <a:ext cx="523875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>
                <a:solidFill>
                  <a:srgbClr val="17253D"/>
                </a:solidFill>
                <a:latin typeface="Segoe UI"/>
                <a:ea typeface="Segoe UI"/>
                <a:cs typeface="Segoe UI"/>
                <a:sym typeface="Segoe UI"/>
              </a:rPr>
              <a:t>Platform + application controls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48" name="TextBox 48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18/21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63" name="Picture 62" descr="Reactor&#10;&#10;AI-generated content may be incorrect.">
            <a:extLst>
              <a:ext uri="{FF2B5EF4-FFF2-40B4-BE49-F238E27FC236}">
                <a16:creationId xmlns:a16="http://schemas.microsoft.com/office/drawing/2014/main" id="{47D52094-368D-C54F-CA03-BB3FBB5D6C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Conversation state and workflow state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143000" y="2667000"/>
            <a:ext cx="7239000" cy="4095750"/>
            <a:chOff x="0" y="0"/>
            <a:chExt cx="9652000" cy="546100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9652000" cy="5461000"/>
              <a:chOff x="0" y="0"/>
              <a:chExt cx="9652000" cy="5461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6520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5461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96520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101600" cy="5461000"/>
              <a:chOff x="0" y="0"/>
              <a:chExt cx="101600" cy="5461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016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461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1016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CONVERSATION / SESSION HISTORY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800" y="971550"/>
              <a:ext cx="8788400" cy="1126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Durable in Cosmos DB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Survives a restart (you just saw it)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Still not a business checkpoint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06000" y="2667000"/>
            <a:ext cx="7239000" cy="4095750"/>
            <a:chOff x="0" y="0"/>
            <a:chExt cx="9652000" cy="54610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9652000" cy="5461000"/>
              <a:chOff x="0" y="0"/>
              <a:chExt cx="9652000" cy="54610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6520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5461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96520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101600" cy="5461000"/>
              <a:chOff x="0" y="0"/>
              <a:chExt cx="101600" cy="5461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016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461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016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DURABLE WORKFLOW CHECKPOINTS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31800" y="971550"/>
              <a:ext cx="8788400" cy="1126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Recoverable progress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Explicit transitions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Future-state execution control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2857500" y="7772400"/>
            <a:ext cx="12573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Conversation state alone does not guarantee recoverable business execution.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8" name="TextBox 28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19/21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3" name="Picture 42" descr="Reactor&#10;&#10;AI-generated content may be incorrect.">
            <a:extLst>
              <a:ext uri="{FF2B5EF4-FFF2-40B4-BE49-F238E27FC236}">
                <a16:creationId xmlns:a16="http://schemas.microsoft.com/office/drawing/2014/main" id="{DEE0C73A-B25B-E776-210E-24FCDF2719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Identity and configuration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143000" y="2857500"/>
            <a:ext cx="4000500" cy="1238250"/>
            <a:chOff x="0" y="0"/>
            <a:chExt cx="5334000" cy="1651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334000" cy="1651000"/>
            </a:xfrm>
            <a:custGeom>
              <a:avLst/>
              <a:gdLst/>
              <a:ahLst/>
              <a:cxnLst/>
              <a:rect l="l" t="t" r="r" b="b"/>
              <a:pathLst>
                <a:path w="5334000" h="1651000">
                  <a:moveTo>
                    <a:pt x="30238" y="0"/>
                  </a:moveTo>
                  <a:lnTo>
                    <a:pt x="5303762" y="0"/>
                  </a:lnTo>
                  <a:cubicBezTo>
                    <a:pt x="5311782" y="0"/>
                    <a:pt x="5319473" y="3186"/>
                    <a:pt x="5325144" y="8857"/>
                  </a:cubicBezTo>
                  <a:cubicBezTo>
                    <a:pt x="5330814" y="14527"/>
                    <a:pt x="5334000" y="22218"/>
                    <a:pt x="5334000" y="30238"/>
                  </a:cubicBezTo>
                  <a:lnTo>
                    <a:pt x="5334000" y="1620762"/>
                  </a:lnTo>
                  <a:cubicBezTo>
                    <a:pt x="5334000" y="1628782"/>
                    <a:pt x="5330814" y="1636473"/>
                    <a:pt x="5325144" y="1642144"/>
                  </a:cubicBezTo>
                  <a:cubicBezTo>
                    <a:pt x="5319473" y="1647814"/>
                    <a:pt x="5311782" y="1651000"/>
                    <a:pt x="5303762" y="1651000"/>
                  </a:cubicBezTo>
                  <a:lnTo>
                    <a:pt x="30238" y="1651000"/>
                  </a:lnTo>
                  <a:cubicBezTo>
                    <a:pt x="22218" y="1651000"/>
                    <a:pt x="14527" y="1647814"/>
                    <a:pt x="8857" y="1642144"/>
                  </a:cubicBezTo>
                  <a:cubicBezTo>
                    <a:pt x="3186" y="1636473"/>
                    <a:pt x="0" y="1628782"/>
                    <a:pt x="0" y="1620762"/>
                  </a:cubicBezTo>
                  <a:lnTo>
                    <a:pt x="0" y="30238"/>
                  </a:lnTo>
                  <a:cubicBezTo>
                    <a:pt x="0" y="22218"/>
                    <a:pt x="3186" y="14527"/>
                    <a:pt x="8857" y="8857"/>
                  </a:cubicBezTo>
                  <a:cubicBezTo>
                    <a:pt x="14527" y="3186"/>
                    <a:pt x="22218" y="0"/>
                    <a:pt x="30238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9525"/>
              <a:ext cx="5334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LOCAL DEVELOPER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identity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143750" y="2857500"/>
            <a:ext cx="4000500" cy="1238250"/>
            <a:chOff x="0" y="0"/>
            <a:chExt cx="5334000" cy="1651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34000" cy="1651000"/>
            </a:xfrm>
            <a:custGeom>
              <a:avLst/>
              <a:gdLst/>
              <a:ahLst/>
              <a:cxnLst/>
              <a:rect l="l" t="t" r="r" b="b"/>
              <a:pathLst>
                <a:path w="5334000" h="1651000">
                  <a:moveTo>
                    <a:pt x="30238" y="0"/>
                  </a:moveTo>
                  <a:lnTo>
                    <a:pt x="5303762" y="0"/>
                  </a:lnTo>
                  <a:cubicBezTo>
                    <a:pt x="5311782" y="0"/>
                    <a:pt x="5319473" y="3186"/>
                    <a:pt x="5325144" y="8857"/>
                  </a:cubicBezTo>
                  <a:cubicBezTo>
                    <a:pt x="5330814" y="14527"/>
                    <a:pt x="5334000" y="22218"/>
                    <a:pt x="5334000" y="30238"/>
                  </a:cubicBezTo>
                  <a:lnTo>
                    <a:pt x="5334000" y="1620762"/>
                  </a:lnTo>
                  <a:cubicBezTo>
                    <a:pt x="5334000" y="1628782"/>
                    <a:pt x="5330814" y="1636473"/>
                    <a:pt x="5325144" y="1642144"/>
                  </a:cubicBezTo>
                  <a:cubicBezTo>
                    <a:pt x="5319473" y="1647814"/>
                    <a:pt x="5311782" y="1651000"/>
                    <a:pt x="5303762" y="1651000"/>
                  </a:cubicBezTo>
                  <a:lnTo>
                    <a:pt x="30238" y="1651000"/>
                  </a:lnTo>
                  <a:cubicBezTo>
                    <a:pt x="22218" y="1651000"/>
                    <a:pt x="14527" y="1647814"/>
                    <a:pt x="8857" y="1642144"/>
                  </a:cubicBezTo>
                  <a:cubicBezTo>
                    <a:pt x="3186" y="1636473"/>
                    <a:pt x="0" y="1628782"/>
                    <a:pt x="0" y="1620762"/>
                  </a:cubicBezTo>
                  <a:lnTo>
                    <a:pt x="0" y="30238"/>
                  </a:lnTo>
                  <a:cubicBezTo>
                    <a:pt x="0" y="22218"/>
                    <a:pt x="3186" y="14527"/>
                    <a:pt x="8857" y="8857"/>
                  </a:cubicBezTo>
                  <a:cubicBezTo>
                    <a:pt x="14527" y="3186"/>
                    <a:pt x="22218" y="0"/>
                    <a:pt x="30238" y="0"/>
                  </a:cubicBezTo>
                  <a:close/>
                </a:path>
              </a:pathLst>
            </a:custGeom>
            <a:solidFill>
              <a:srgbClr val="E7E2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9525"/>
              <a:ext cx="5334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CONFIGURATION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endpoints + aliases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44500" y="2857500"/>
            <a:ext cx="4000500" cy="1238250"/>
            <a:chOff x="0" y="0"/>
            <a:chExt cx="5334000" cy="1651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34000" cy="1651000"/>
            </a:xfrm>
            <a:custGeom>
              <a:avLst/>
              <a:gdLst/>
              <a:ahLst/>
              <a:cxnLst/>
              <a:rect l="l" t="t" r="r" b="b"/>
              <a:pathLst>
                <a:path w="5334000" h="1651000">
                  <a:moveTo>
                    <a:pt x="30238" y="0"/>
                  </a:moveTo>
                  <a:lnTo>
                    <a:pt x="5303762" y="0"/>
                  </a:lnTo>
                  <a:cubicBezTo>
                    <a:pt x="5311782" y="0"/>
                    <a:pt x="5319473" y="3186"/>
                    <a:pt x="5325144" y="8857"/>
                  </a:cubicBezTo>
                  <a:cubicBezTo>
                    <a:pt x="5330814" y="14527"/>
                    <a:pt x="5334000" y="22218"/>
                    <a:pt x="5334000" y="30238"/>
                  </a:cubicBezTo>
                  <a:lnTo>
                    <a:pt x="5334000" y="1620762"/>
                  </a:lnTo>
                  <a:cubicBezTo>
                    <a:pt x="5334000" y="1628782"/>
                    <a:pt x="5330814" y="1636473"/>
                    <a:pt x="5325144" y="1642144"/>
                  </a:cubicBezTo>
                  <a:cubicBezTo>
                    <a:pt x="5319473" y="1647814"/>
                    <a:pt x="5311782" y="1651000"/>
                    <a:pt x="5303762" y="1651000"/>
                  </a:cubicBezTo>
                  <a:lnTo>
                    <a:pt x="30238" y="1651000"/>
                  </a:lnTo>
                  <a:cubicBezTo>
                    <a:pt x="22218" y="1651000"/>
                    <a:pt x="14527" y="1647814"/>
                    <a:pt x="8857" y="1642144"/>
                  </a:cubicBezTo>
                  <a:cubicBezTo>
                    <a:pt x="3186" y="1636473"/>
                    <a:pt x="0" y="1628782"/>
                    <a:pt x="0" y="1620762"/>
                  </a:cubicBezTo>
                  <a:lnTo>
                    <a:pt x="0" y="30238"/>
                  </a:lnTo>
                  <a:cubicBezTo>
                    <a:pt x="0" y="22218"/>
                    <a:pt x="3186" y="14527"/>
                    <a:pt x="8857" y="8857"/>
                  </a:cubicBezTo>
                  <a:cubicBezTo>
                    <a:pt x="14527" y="3186"/>
                    <a:pt x="22218" y="0"/>
                    <a:pt x="30238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9525"/>
              <a:ext cx="5334000" cy="1641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DEPLOYED WORKLOAD</a:t>
              </a:r>
            </a:p>
            <a:p>
              <a:pPr algn="ctr">
                <a:lnSpc>
                  <a:spcPts val="2070"/>
                </a:lnSpc>
              </a:pPr>
              <a:r>
                <a:rPr lang="en-US" sz="180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identity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5143500" y="3476625"/>
            <a:ext cx="2000250" cy="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sp>
        <p:nvSpPr>
          <p:cNvPr id="18" name="AutoShape 18"/>
          <p:cNvSpPr/>
          <p:nvPr/>
        </p:nvSpPr>
        <p:spPr>
          <a:xfrm>
            <a:off x="11144250" y="3476625"/>
            <a:ext cx="2000250" cy="0"/>
          </a:xfrm>
          <a:prstGeom prst="line">
            <a:avLst/>
          </a:prstGeom>
          <a:ln w="28575" cap="rnd">
            <a:solidFill>
              <a:srgbClr val="0078D4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5715000" y="5286375"/>
            <a:ext cx="6858000" cy="48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0"/>
              </a:lnSpc>
            </a:pPr>
            <a:r>
              <a:rPr lang="en-US" sz="2850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NO EMBEDDED SECRETS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286250" y="6629400"/>
            <a:ext cx="9715500" cy="35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>
                <a:solidFill>
                  <a:srgbClr val="737373"/>
                </a:solidFill>
                <a:latin typeface="Segoe UI"/>
                <a:ea typeface="Segoe UI"/>
                <a:cs typeface="Segoe UI"/>
                <a:sym typeface="Segoe UI"/>
              </a:rPr>
              <a:t>[INSERT VALIDATED IDENTITY CONFIGURATION]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2" name="TextBox 22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20/21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37" name="Picture 36" descr="Reactor&#10;&#10;AI-generated content may be incorrect.">
            <a:extLst>
              <a:ext uri="{FF2B5EF4-FFF2-40B4-BE49-F238E27FC236}">
                <a16:creationId xmlns:a16="http://schemas.microsoft.com/office/drawing/2014/main" id="{6FD92EAF-2453-181B-2AAF-6DC638BC14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READY FOR THE ROOM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Demo recovery and further reading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sp>
        <p:nvSpPr>
          <p:cNvPr id="8" name="Freeform 8"/>
          <p:cNvSpPr/>
          <p:nvPr/>
        </p:nvSpPr>
        <p:spPr>
          <a:xfrm>
            <a:off x="14430375" y="666750"/>
            <a:ext cx="2266950" cy="752475"/>
          </a:xfrm>
          <a:custGeom>
            <a:avLst/>
            <a:gdLst/>
            <a:ahLst/>
            <a:cxnLst/>
            <a:rect l="l" t="t" r="r" b="b"/>
            <a:pathLst>
              <a:path w="2266950" h="752475">
                <a:moveTo>
                  <a:pt x="0" y="0"/>
                </a:moveTo>
                <a:lnTo>
                  <a:pt x="2266950" y="0"/>
                </a:lnTo>
                <a:lnTo>
                  <a:pt x="2266950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5" b="-85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1143000" y="2286000"/>
            <a:ext cx="7239000" cy="1619250"/>
            <a:chOff x="0" y="0"/>
            <a:chExt cx="9652000" cy="2159000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9652000" cy="2159000"/>
              <a:chOff x="0" y="0"/>
              <a:chExt cx="9652000" cy="2159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96520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2159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96520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0" y="0"/>
              <a:ext cx="101600" cy="2159000"/>
              <a:chOff x="0" y="0"/>
              <a:chExt cx="101600" cy="2159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016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159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1016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01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1800" y="971550"/>
              <a:ext cx="8788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Recorded triage outputs (docs/assets/fallbacks)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239250" y="2286000"/>
            <a:ext cx="7239000" cy="1619250"/>
            <a:chOff x="0" y="0"/>
            <a:chExt cx="9652000" cy="215900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9652000" cy="2159000"/>
              <a:chOff x="0" y="0"/>
              <a:chExt cx="9652000" cy="21590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96520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2159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96520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0" y="0"/>
              <a:ext cx="101600" cy="2159000"/>
              <a:chOff x="0" y="0"/>
              <a:chExt cx="101600" cy="2159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016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159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016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02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1800" y="971550"/>
              <a:ext cx="8788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Recorded tool trace and activity panel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43000" y="4381500"/>
            <a:ext cx="7239000" cy="1619250"/>
            <a:chOff x="0" y="0"/>
            <a:chExt cx="9652000" cy="2159000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9652000" cy="2159000"/>
              <a:chOff x="0" y="0"/>
              <a:chExt cx="9652000" cy="21590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96520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2159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96520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0" y="0"/>
              <a:ext cx="101600" cy="2159000"/>
              <a:chOff x="0" y="0"/>
              <a:chExt cx="101600" cy="21590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016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159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1016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03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1800" y="971550"/>
              <a:ext cx="8788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Streaming UI screenshot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239250" y="4381500"/>
            <a:ext cx="7239000" cy="1619250"/>
            <a:chOff x="0" y="0"/>
            <a:chExt cx="9652000" cy="2159000"/>
          </a:xfrm>
        </p:grpSpPr>
        <p:grpSp>
          <p:nvGrpSpPr>
            <p:cNvPr id="37" name="Group 37"/>
            <p:cNvGrpSpPr/>
            <p:nvPr/>
          </p:nvGrpSpPr>
          <p:grpSpPr>
            <a:xfrm>
              <a:off x="0" y="0"/>
              <a:ext cx="9652000" cy="2159000"/>
              <a:chOff x="0" y="0"/>
              <a:chExt cx="9652000" cy="21590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96520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2159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38100"/>
                <a:ext cx="96520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0" y="0"/>
              <a:ext cx="101600" cy="2159000"/>
              <a:chOff x="0" y="0"/>
              <a:chExt cx="101600" cy="21590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1016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159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38100"/>
                <a:ext cx="1016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04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31800" y="971550"/>
              <a:ext cx="8788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Hosting screenshot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143000" y="6477000"/>
            <a:ext cx="7239000" cy="1619250"/>
            <a:chOff x="0" y="0"/>
            <a:chExt cx="9652000" cy="2159000"/>
          </a:xfrm>
        </p:grpSpPr>
        <p:grpSp>
          <p:nvGrpSpPr>
            <p:cNvPr id="46" name="Group 46"/>
            <p:cNvGrpSpPr/>
            <p:nvPr/>
          </p:nvGrpSpPr>
          <p:grpSpPr>
            <a:xfrm>
              <a:off x="0" y="0"/>
              <a:ext cx="9652000" cy="2159000"/>
              <a:chOff x="0" y="0"/>
              <a:chExt cx="9652000" cy="21590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96520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2159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38100"/>
                <a:ext cx="96520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0" y="0"/>
              <a:ext cx="101600" cy="2159000"/>
              <a:chOff x="0" y="0"/>
              <a:chExt cx="101600" cy="21590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1600" cy="2159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2159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2159000"/>
                    </a:lnTo>
                    <a:lnTo>
                      <a:pt x="0" y="2159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38100"/>
                <a:ext cx="101600" cy="2197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05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31800" y="971550"/>
              <a:ext cx="8788400" cy="364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make restore-baseline + smoke: healthy in under a minute</a:t>
              </a: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714500" y="8629650"/>
            <a:ext cx="1485900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1725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Foundry Agent Service  ·  Microsoft Agent Framework  ·  Agent Framework source and samples</a:t>
            </a:r>
          </a:p>
        </p:txBody>
      </p:sp>
      <p:grpSp>
        <p:nvGrpSpPr>
          <p:cNvPr id="55" name="Group 55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56" name="TextBox 56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21/21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71" name="Picture 70" descr="Reactor&#10;&#10;AI-generated content may be incorrect.">
            <a:extLst>
              <a:ext uri="{FF2B5EF4-FFF2-40B4-BE49-F238E27FC236}">
                <a16:creationId xmlns:a16="http://schemas.microsoft.com/office/drawing/2014/main" id="{05D1B5D6-4F2B-D8ED-A99A-0C484298C1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495300"/>
            <a:ext cx="16459200" cy="1238250"/>
            <a:chOff x="0" y="0"/>
            <a:chExt cx="21945600" cy="16510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11430000" cy="36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spc="132">
                  <a:solidFill>
                    <a:srgbClr val="0078D4"/>
                  </a:solidFill>
                  <a:latin typeface="Segoe UI"/>
                  <a:ea typeface="Segoe UI"/>
                  <a:cs typeface="Segoe UI"/>
                  <a:sym typeface="Segoe UI"/>
                </a:rPr>
                <a:t>EPISODE 1 · FOUNDATIONS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5625"/>
              <a:ext cx="19685000" cy="828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98"/>
                </a:lnSpc>
              </a:pPr>
              <a:r>
                <a:rPr lang="en-US" sz="4350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Instructions are data, not code</a:t>
              </a: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1625600"/>
              <a:ext cx="21945600" cy="25400"/>
              <a:chOff x="0" y="0"/>
              <a:chExt cx="21945600" cy="254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19456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1945600" h="25400">
                    <a:moveTo>
                      <a:pt x="0" y="0"/>
                    </a:moveTo>
                    <a:lnTo>
                      <a:pt x="21945600" y="0"/>
                    </a:lnTo>
                    <a:lnTo>
                      <a:pt x="21945600" y="25400"/>
                    </a:lnTo>
                    <a:lnTo>
                      <a:pt x="0" y="254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1945600" cy="63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grpSp>
        <p:nvGrpSpPr>
          <p:cNvPr id="8" name="Group 8"/>
          <p:cNvGrpSpPr/>
          <p:nvPr/>
        </p:nvGrpSpPr>
        <p:grpSpPr>
          <a:xfrm>
            <a:off x="1143000" y="2667000"/>
            <a:ext cx="7239000" cy="4095750"/>
            <a:chOff x="0" y="0"/>
            <a:chExt cx="9652000" cy="546100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9652000" cy="5461000"/>
              <a:chOff x="0" y="0"/>
              <a:chExt cx="9652000" cy="5461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6520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5461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96520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101600" cy="5461000"/>
              <a:chOff x="0" y="0"/>
              <a:chExt cx="101600" cy="5461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016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461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1016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INSTRUCTIONS V0 - 3 SENTENCES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800" y="971550"/>
              <a:ext cx="8788400" cy="1126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Misses the instruction planted in a runbook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No change identified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No human asked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06000" y="2667000"/>
            <a:ext cx="7239000" cy="4095750"/>
            <a:chOff x="0" y="0"/>
            <a:chExt cx="9652000" cy="54610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9652000" cy="5461000"/>
              <a:chOff x="0" y="0"/>
              <a:chExt cx="9652000" cy="54610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6520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9652000" h="5461000">
                    <a:moveTo>
                      <a:pt x="0" y="0"/>
                    </a:moveTo>
                    <a:lnTo>
                      <a:pt x="9652000" y="0"/>
                    </a:lnTo>
                    <a:lnTo>
                      <a:pt x="96520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7E2F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96520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101600" cy="5461000"/>
              <a:chOff x="0" y="0"/>
              <a:chExt cx="101600" cy="5461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01600" cy="5461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4610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5461000"/>
                    </a:lnTo>
                    <a:lnTo>
                      <a:pt x="0" y="5461000"/>
                    </a:lnTo>
                    <a:close/>
                  </a:path>
                </a:pathLst>
              </a:custGeom>
              <a:solidFill>
                <a:srgbClr val="2A446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01600" cy="5499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31800" y="292100"/>
              <a:ext cx="8788400" cy="4724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2175">
                  <a:solidFill>
                    <a:srgbClr val="17253D"/>
                  </a:solidFill>
                  <a:latin typeface="Segoe UI"/>
                  <a:ea typeface="Segoe UI"/>
                  <a:cs typeface="Segoe UI"/>
                  <a:sym typeface="Segoe UI"/>
                </a:rPr>
                <a:t>INSTRUCTIONS V2 - 8 SECTIONS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31800" y="971550"/>
              <a:ext cx="8788400" cy="11269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Flags the planted instruction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Finds CHG-2026-0874</a:t>
              </a:r>
            </a:p>
            <a:p>
              <a:pPr algn="l">
                <a:lnSpc>
                  <a:spcPts val="2277"/>
                </a:lnSpc>
              </a:pPr>
              <a:r>
                <a:rPr lang="en-US" sz="1725">
                  <a:solidFill>
                    <a:srgbClr val="2A446F"/>
                  </a:solidFill>
                  <a:latin typeface="Segoe UI"/>
                  <a:ea typeface="Segoe UI"/>
                  <a:cs typeface="Segoe UI"/>
                  <a:sym typeface="Segoe UI"/>
                </a:rPr>
                <a:t>Escalates to a human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2857500" y="7772400"/>
            <a:ext cx="12573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9"/>
              </a:lnSpc>
            </a:pPr>
            <a:r>
              <a:rPr lang="en-US" sz="2250">
                <a:solidFill>
                  <a:srgbClr val="0078D4"/>
                </a:solidFill>
                <a:latin typeface="Segoe UI"/>
                <a:ea typeface="Segoe UI"/>
                <a:cs typeface="Segoe UI"/>
                <a:sym typeface="Segoe UI"/>
              </a:rPr>
              <a:t>Same model, same tools. Switched per request from Cosmos DB - no redeploy.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914400" y="9667875"/>
            <a:ext cx="16459200" cy="203835"/>
            <a:chOff x="0" y="0"/>
            <a:chExt cx="21945600" cy="271780"/>
          </a:xfrm>
        </p:grpSpPr>
        <p:sp>
          <p:nvSpPr>
            <p:cNvPr id="28" name="TextBox 28"/>
            <p:cNvSpPr txBox="1"/>
            <p:nvPr/>
          </p:nvSpPr>
          <p:spPr>
            <a:xfrm>
              <a:off x="0" y="-19050"/>
              <a:ext cx="6350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350" spc="81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FROM PROMPT TO PRODUCTION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8846800" y="-19050"/>
              <a:ext cx="30988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89"/>
                </a:lnSpc>
              </a:pPr>
              <a:r>
                <a:rPr lang="en-US" sz="1350">
                  <a:solidFill>
                    <a:srgbClr val="737373"/>
                  </a:solidFill>
                  <a:latin typeface="Segoe UI"/>
                  <a:ea typeface="Segoe UI"/>
                  <a:cs typeface="Segoe UI"/>
                  <a:sym typeface="Segoe UI"/>
                </a:rPr>
                <a:t>EP 1  ·  10/21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7924800" y="88900"/>
              <a:ext cx="1193800" cy="76200"/>
              <a:chOff x="0" y="0"/>
              <a:chExt cx="1193800" cy="762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0078D4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9448800" y="88900"/>
              <a:ext cx="1193800" cy="76200"/>
              <a:chOff x="0" y="0"/>
              <a:chExt cx="1193800" cy="762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0972800" y="88900"/>
              <a:ext cx="1193800" cy="76200"/>
              <a:chOff x="0" y="0"/>
              <a:chExt cx="1193800" cy="762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2496800" y="88900"/>
              <a:ext cx="1193800" cy="76200"/>
              <a:chOff x="0" y="0"/>
              <a:chExt cx="1193800" cy="762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1193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93800" h="76200">
                    <a:moveTo>
                      <a:pt x="0" y="0"/>
                    </a:moveTo>
                    <a:lnTo>
                      <a:pt x="1193800" y="0"/>
                    </a:lnTo>
                    <a:lnTo>
                      <a:pt x="1193800" y="76200"/>
                    </a:lnTo>
                    <a:lnTo>
                      <a:pt x="0" y="76200"/>
                    </a:lnTo>
                    <a:close/>
                  </a:path>
                </a:pathLst>
              </a:custGeom>
              <a:solidFill>
                <a:srgbClr val="E7E2F6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1193800" cy="114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</p:grpSp>
      <p:pic>
        <p:nvPicPr>
          <p:cNvPr id="43" name="Picture 42" descr="Reactor&#10;&#10;AI-generated content may be incorrect.">
            <a:extLst>
              <a:ext uri="{FF2B5EF4-FFF2-40B4-BE49-F238E27FC236}">
                <a16:creationId xmlns:a16="http://schemas.microsoft.com/office/drawing/2014/main" id="{DEE0C73A-B25B-E776-210E-24FCDF2719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0" y="150019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982</Words>
  <Application>Microsoft Office PowerPoint</Application>
  <PresentationFormat>Custom</PresentationFormat>
  <Paragraphs>279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Segoe UI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Foundations</dc:title>
  <dc:creator>kpassadis</dc:creator>
  <cp:lastModifiedBy>Konstantinos Passadis</cp:lastModifiedBy>
  <cp:revision>2</cp:revision>
  <dcterms:created xsi:type="dcterms:W3CDTF">2006-08-16T00:00:00Z</dcterms:created>
  <dcterms:modified xsi:type="dcterms:W3CDTF">2026-10-06T12:50:10Z</dcterms:modified>
  <dc:identifier>DAHWnHG2uQQ</dc:identifier>
</cp:coreProperties>
</file>